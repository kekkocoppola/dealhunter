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8288000" cy="10287000"/>
  <p:notesSz cx="6858000" cy="9144000"/>
  <p:embeddedFontLst>
    <p:embeddedFont>
      <p:font typeface="Almarai" charset="1" panose="00000000000000000000"/>
      <p:regular r:id="rId42"/>
    </p:embeddedFont>
    <p:embeddedFont>
      <p:font typeface="Almarai Bold" charset="1" panose="0000000000000000000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5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sv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36.png" Type="http://schemas.openxmlformats.org/officeDocument/2006/relationships/image"/><Relationship Id="rId8" Target="../media/image37.sv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0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1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2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3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svg" Type="http://schemas.openxmlformats.org/officeDocument/2006/relationships/image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0.pn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56.png" Type="http://schemas.openxmlformats.org/officeDocument/2006/relationships/image"/><Relationship Id="rId4" Target="../media/image57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58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59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0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1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2.png" Type="http://schemas.openxmlformats.org/officeDocument/2006/relationships/image"/><Relationship Id="rId4" Target="../media/image63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4.png" Type="http://schemas.openxmlformats.org/officeDocument/2006/relationships/image"/><Relationship Id="rId4" Target="../media/image65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6.png" Type="http://schemas.openxmlformats.org/officeDocument/2006/relationships/image"/><Relationship Id="rId4" Target="../media/image67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jpe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6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65940" y="-491592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8" y="0"/>
                </a:lnTo>
                <a:lnTo>
                  <a:pt x="8754598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01419" y="5061812"/>
            <a:ext cx="5246522" cy="7495031"/>
            <a:chOff x="0" y="0"/>
            <a:chExt cx="4445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57142" t="0" r="-5714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12201419" y="5061812"/>
            <a:ext cx="5246522" cy="7495031"/>
            <a:chOff x="0" y="0"/>
            <a:chExt cx="444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-1080000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0"/>
                  </a:move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lose/>
                </a:path>
              </a:pathLst>
            </a:custGeom>
            <a:blipFill>
              <a:blip r:embed="rId5"/>
              <a:stretch>
                <a:fillRect l="-20853" t="-24443" r="-20853" b="-2444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9144000" y="6196748"/>
            <a:ext cx="2564685" cy="3663835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805262" y="-3450194"/>
            <a:ext cx="6752859" cy="9646942"/>
            <a:chOff x="0" y="0"/>
            <a:chExt cx="444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7"/>
              <a:stretch>
                <a:fillRect l="-21428" t="0" r="-21428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805262" y="-3450194"/>
            <a:ext cx="6752859" cy="9646942"/>
            <a:chOff x="0" y="0"/>
            <a:chExt cx="4445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0" t="-11269" r="0" b="-11269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6605949" y="3464712"/>
            <a:ext cx="841991" cy="84199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t="0" r="-126211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-5976625" y="4306703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2343855" y="420929"/>
            <a:ext cx="13525091" cy="7376810"/>
          </a:xfrm>
          <a:custGeom>
            <a:avLst/>
            <a:gdLst/>
            <a:ahLst/>
            <a:cxnLst/>
            <a:rect r="r" b="b" t="t" l="l"/>
            <a:pathLst>
              <a:path h="7376810" w="13525091">
                <a:moveTo>
                  <a:pt x="0" y="0"/>
                </a:moveTo>
                <a:lnTo>
                  <a:pt x="13525091" y="0"/>
                </a:lnTo>
                <a:lnTo>
                  <a:pt x="13525091" y="7376810"/>
                </a:lnTo>
                <a:lnTo>
                  <a:pt x="0" y="73768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2163209" y="4904759"/>
            <a:ext cx="5327803" cy="9135636"/>
            <a:chOff x="0" y="0"/>
            <a:chExt cx="3678349" cy="6307301"/>
          </a:xfrm>
        </p:grpSpPr>
        <p:sp>
          <p:nvSpPr>
            <p:cNvPr name="Freeform 20" id="20"/>
            <p:cNvSpPr/>
            <p:nvPr/>
          </p:nvSpPr>
          <p:spPr>
            <a:xfrm flipH="false" flipV="true" rot="0">
              <a:off x="0" y="0"/>
              <a:ext cx="3678349" cy="6307301"/>
            </a:xfrm>
            <a:custGeom>
              <a:avLst/>
              <a:gdLst/>
              <a:ahLst/>
              <a:cxnLst/>
              <a:rect r="r" b="b" t="t" l="l"/>
              <a:pathLst>
                <a:path h="6307301" w="3678349">
                  <a:moveTo>
                    <a:pt x="1839175" y="0"/>
                  </a:moveTo>
                  <a:cubicBezTo>
                    <a:pt x="823950" y="0"/>
                    <a:pt x="0" y="988985"/>
                    <a:pt x="0" y="2207556"/>
                  </a:cubicBezTo>
                  <a:lnTo>
                    <a:pt x="0" y="4099746"/>
                  </a:lnTo>
                  <a:cubicBezTo>
                    <a:pt x="0" y="5318317"/>
                    <a:pt x="823950" y="6307301"/>
                    <a:pt x="1839175" y="6307301"/>
                  </a:cubicBezTo>
                  <a:cubicBezTo>
                    <a:pt x="2854399" y="6307301"/>
                    <a:pt x="3678349" y="5318317"/>
                    <a:pt x="3678349" y="4099746"/>
                  </a:cubicBezTo>
                  <a:lnTo>
                    <a:pt x="3678349" y="2207556"/>
                  </a:lnTo>
                  <a:cubicBezTo>
                    <a:pt x="3678349" y="988985"/>
                    <a:pt x="2854399" y="0"/>
                    <a:pt x="1839175" y="0"/>
                  </a:cubicBezTo>
                  <a:close/>
                </a:path>
              </a:pathLst>
            </a:custGeom>
            <a:blipFill>
              <a:blip r:embed="rId6"/>
              <a:stretch>
                <a:fillRect l="-252151" t="0" r="-252151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805262" y="-2700147"/>
            <a:ext cx="6715895" cy="8896895"/>
            <a:chOff x="0" y="0"/>
            <a:chExt cx="479335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9335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793350">
                  <a:moveTo>
                    <a:pt x="2396675" y="6350000"/>
                  </a:moveTo>
                  <a:cubicBezTo>
                    <a:pt x="107371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1073710" y="0"/>
                    <a:pt x="2396675" y="0"/>
                  </a:cubicBezTo>
                  <a:cubicBezTo>
                    <a:pt x="3719640" y="0"/>
                    <a:pt x="4793350" y="995680"/>
                    <a:pt x="4793350" y="2222500"/>
                  </a:cubicBezTo>
                  <a:lnTo>
                    <a:pt x="4793350" y="4127500"/>
                  </a:lnTo>
                  <a:cubicBezTo>
                    <a:pt x="4793350" y="5354320"/>
                    <a:pt x="3719640" y="6350000"/>
                    <a:pt x="2396675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183436" t="0" r="-183436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81215" y="7004525"/>
            <a:ext cx="7074952" cy="884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829" spc="432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Presented by: Francesco Coppola</a:t>
            </a:r>
          </a:p>
          <a:p>
            <a:pPr algn="ctr" marL="0" indent="0" lvl="0">
              <a:lnSpc>
                <a:spcPts val="3479"/>
              </a:lnSpc>
              <a:spcBef>
                <a:spcPct val="0"/>
              </a:spcBef>
            </a:pPr>
            <a:r>
              <a:rPr lang="en-US" sz="2829" spc="432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Mat. 0512119837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56821" y="75452"/>
            <a:ext cx="12010783" cy="10400796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5727" t="0" r="-1572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4086541" y="0"/>
            <a:ext cx="12010783" cy="10400796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-102591" t="0" r="-10259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109196" y="15648"/>
            <a:ext cx="12010783" cy="10400796"/>
            <a:chOff x="0" y="0"/>
            <a:chExt cx="4282440" cy="370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-102591" t="0" r="-10259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78059" y="3920409"/>
            <a:ext cx="2446183" cy="244618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200025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t="0" r="-20173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664277" y="-871079"/>
            <a:ext cx="1683983" cy="2405689"/>
            <a:chOff x="0" y="0"/>
            <a:chExt cx="4445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t="0" r="-2017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6417309" y="1645890"/>
            <a:ext cx="841991" cy="84199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26211" t="0" r="-12621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6480591" y="8837304"/>
            <a:ext cx="841991" cy="84199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26211" t="0" r="-126211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463544" y="7799071"/>
            <a:ext cx="2374761" cy="3392515"/>
            <a:chOff x="0" y="0"/>
            <a:chExt cx="4445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t="0" r="-201730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5899284" y="4341634"/>
            <a:ext cx="1603733" cy="1603733"/>
          </a:xfrm>
          <a:custGeom>
            <a:avLst/>
            <a:gdLst/>
            <a:ahLst/>
            <a:cxnLst/>
            <a:rect r="r" b="b" t="t" l="l"/>
            <a:pathLst>
              <a:path h="1603733" w="1603733">
                <a:moveTo>
                  <a:pt x="0" y="0"/>
                </a:moveTo>
                <a:lnTo>
                  <a:pt x="1603733" y="0"/>
                </a:lnTo>
                <a:lnTo>
                  <a:pt x="1603733" y="1603732"/>
                </a:lnTo>
                <a:lnTo>
                  <a:pt x="0" y="1603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362998" y="3910884"/>
            <a:ext cx="6542245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84"/>
              </a:lnSpc>
              <a:spcBef>
                <a:spcPct val="0"/>
              </a:spcBef>
            </a:pPr>
            <a:r>
              <a:rPr lang="en-US" b="true" sz="657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IL PROBLEMA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362998" y="5183523"/>
            <a:ext cx="8461089" cy="118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6"/>
              </a:lnSpc>
            </a:pPr>
            <a:r>
              <a:rPr lang="en-US" sz="2316" spc="226">
                <a:solidFill>
                  <a:srgbClr val="F5FFF5"/>
                </a:solidFill>
                <a:latin typeface="Almarai"/>
                <a:ea typeface="Almarai"/>
                <a:cs typeface="Almarai"/>
                <a:sym typeface="Almarai"/>
              </a:rPr>
              <a:t>L’acquirente inesperto del mercato dello smartphone usato non conosce il vero valore del dispositivo che sta acquistando.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5966396" y="9258300"/>
            <a:ext cx="13457996" cy="3264379"/>
            <a:chOff x="0" y="0"/>
            <a:chExt cx="17943995" cy="43525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600097" y="861572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26202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194248" y="202855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3794345" y="1064427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26202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461377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t="0" r="-126211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-5400000">
            <a:off x="2929983" y="7929818"/>
            <a:ext cx="841991" cy="84199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t="0" r="-12621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56231" y="-3048576"/>
            <a:ext cx="6103137" cy="8718767"/>
            <a:chOff x="0" y="0"/>
            <a:chExt cx="4445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-10800000">
            <a:off x="11095643" y="3587077"/>
            <a:ext cx="5688726" cy="8126751"/>
            <a:chOff x="0" y="0"/>
            <a:chExt cx="4445000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2196662" y="1202778"/>
            <a:ext cx="4222276" cy="4114800"/>
          </a:xfrm>
          <a:custGeom>
            <a:avLst/>
            <a:gdLst/>
            <a:ahLst/>
            <a:cxnLst/>
            <a:rect r="r" b="b" t="t" l="l"/>
            <a:pathLst>
              <a:path h="4114800" w="4222276">
                <a:moveTo>
                  <a:pt x="0" y="0"/>
                </a:moveTo>
                <a:lnTo>
                  <a:pt x="4222276" y="0"/>
                </a:lnTo>
                <a:lnTo>
                  <a:pt x="42222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208049" y="4657009"/>
            <a:ext cx="3463913" cy="4114800"/>
          </a:xfrm>
          <a:custGeom>
            <a:avLst/>
            <a:gdLst/>
            <a:ahLst/>
            <a:cxnLst/>
            <a:rect r="r" b="b" t="t" l="l"/>
            <a:pathLst>
              <a:path h="4114800" w="3463913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7061952" y="3192712"/>
            <a:ext cx="3901577" cy="3901577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200025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7593408" y="3754187"/>
            <a:ext cx="3101185" cy="2650103"/>
          </a:xfrm>
          <a:custGeom>
            <a:avLst/>
            <a:gdLst/>
            <a:ahLst/>
            <a:cxnLst/>
            <a:rect r="r" b="b" t="t" l="l"/>
            <a:pathLst>
              <a:path h="2650103" w="3101185">
                <a:moveTo>
                  <a:pt x="0" y="0"/>
                </a:moveTo>
                <a:lnTo>
                  <a:pt x="3101184" y="0"/>
                </a:lnTo>
                <a:lnTo>
                  <a:pt x="3101184" y="2650104"/>
                </a:lnTo>
                <a:lnTo>
                  <a:pt x="0" y="265010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31323" y="6415939"/>
            <a:ext cx="5952955" cy="1077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11"/>
              </a:lnSpc>
              <a:spcBef>
                <a:spcPct val="0"/>
              </a:spcBef>
            </a:pPr>
            <a:r>
              <a:rPr lang="en-US" b="true" sz="6842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AFFARE?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963529" y="2183077"/>
            <a:ext cx="5952955" cy="1077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11"/>
              </a:lnSpc>
              <a:spcBef>
                <a:spcPct val="0"/>
              </a:spcBef>
            </a:pPr>
            <a:r>
              <a:rPr lang="en-US" b="true" sz="6842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TRUFFA?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768405" y="1650331"/>
            <a:ext cx="7297240" cy="77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34"/>
              </a:lnSpc>
              <a:spcBef>
                <a:spcPct val="0"/>
              </a:spcBef>
            </a:pPr>
            <a:r>
              <a:rPr lang="en-US" b="true" sz="5028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LA SOLUZIONE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517515" y="2417844"/>
            <a:ext cx="6134277" cy="613427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4540" t="0" r="-12788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517515" y="2417844"/>
            <a:ext cx="6134277" cy="613427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41666" t="0" r="-41666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68405" y="2800873"/>
            <a:ext cx="5462808" cy="805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55"/>
              </a:lnSpc>
              <a:spcBef>
                <a:spcPct val="0"/>
              </a:spcBef>
            </a:pPr>
            <a:r>
              <a:rPr lang="en-US" b="true" sz="4605">
                <a:solidFill>
                  <a:srgbClr val="1C6DB3"/>
                </a:solidFill>
                <a:latin typeface="Almarai Bold"/>
                <a:ea typeface="Almarai Bold"/>
                <a:cs typeface="Almarai Bold"/>
                <a:sym typeface="Almarai Bold"/>
              </a:rPr>
              <a:t>Deal</a:t>
            </a:r>
            <a:r>
              <a:rPr lang="en-US" b="true" sz="4605">
                <a:solidFill>
                  <a:srgbClr val="E77B05"/>
                </a:solidFill>
                <a:latin typeface="Almarai Bold"/>
                <a:ea typeface="Almarai Bold"/>
                <a:cs typeface="Almarai Bold"/>
                <a:sym typeface="Almarai Bold"/>
              </a:rPr>
              <a:t>Hunter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68405" y="3901130"/>
            <a:ext cx="8460280" cy="139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7"/>
              </a:lnSpc>
              <a:spcBef>
                <a:spcPct val="0"/>
              </a:spcBef>
            </a:pPr>
            <a:r>
              <a:rPr lang="en-US" sz="2715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Il</a:t>
            </a:r>
            <a:r>
              <a:rPr lang="en-US" sz="2715" strike="noStrike" u="non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progetto DealHunter affronta il problema della classificazione del prezzo di smartphone usati in categorie predefinite.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68405" y="5950693"/>
            <a:ext cx="8749110" cy="81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55"/>
              </a:lnSpc>
              <a:spcBef>
                <a:spcPct val="0"/>
              </a:spcBef>
            </a:pPr>
            <a:r>
              <a:rPr lang="en-US" b="true" sz="4605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Cosa fa?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68405" y="7020495"/>
            <a:ext cx="8460280" cy="2328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sz="2715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DealHunter è in grado di:</a:t>
            </a:r>
          </a:p>
          <a:p>
            <a:pPr algn="l" marL="586330" indent="-293165" lvl="1">
              <a:lnSpc>
                <a:spcPts val="3747"/>
              </a:lnSpc>
              <a:buFont typeface="Arial"/>
              <a:buChar char="•"/>
            </a:pPr>
            <a:r>
              <a:rPr lang="en-US" sz="2715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Analizza</a:t>
            </a:r>
            <a:r>
              <a:rPr lang="en-US" sz="2715" strike="noStrike" u="non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re le specifiche tecniche di un dispositivo </a:t>
            </a:r>
          </a:p>
          <a:p>
            <a:pPr algn="l" marL="586330" indent="-293165" lvl="1">
              <a:lnSpc>
                <a:spcPts val="3747"/>
              </a:lnSpc>
              <a:buFont typeface="Arial"/>
              <a:buChar char="•"/>
            </a:pPr>
            <a:r>
              <a:rPr lang="en-US" sz="2715" strike="noStrike" u="non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Predire la fascia di prezzo a cui appartiene il dispositivo nel mercato dell’usato </a:t>
            </a:r>
          </a:p>
          <a:p>
            <a:pPr algn="l" marL="586330" indent="-293165" lvl="1">
              <a:lnSpc>
                <a:spcPts val="3747"/>
              </a:lnSpc>
              <a:buFont typeface="Arial"/>
              <a:buChar char="•"/>
            </a:pPr>
            <a:r>
              <a:rPr lang="en-US" sz="2715" strike="noStrike" u="non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Fornire una stima interpretabile per utenti finali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1592" y="1717521"/>
            <a:ext cx="6376662" cy="637666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2767" y="1195545"/>
            <a:ext cx="7594311" cy="759431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039229" y="2584516"/>
            <a:ext cx="1371267" cy="137126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29553" y="4526970"/>
            <a:ext cx="1371267" cy="137126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029553" y="6516233"/>
            <a:ext cx="1371267" cy="137126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9422383" y="2850456"/>
            <a:ext cx="610464" cy="839389"/>
          </a:xfrm>
          <a:custGeom>
            <a:avLst/>
            <a:gdLst/>
            <a:ahLst/>
            <a:cxnLst/>
            <a:rect r="r" b="b" t="t" l="l"/>
            <a:pathLst>
              <a:path h="839389" w="610464">
                <a:moveTo>
                  <a:pt x="0" y="0"/>
                </a:moveTo>
                <a:lnTo>
                  <a:pt x="610464" y="0"/>
                </a:lnTo>
                <a:lnTo>
                  <a:pt x="610464" y="839388"/>
                </a:lnTo>
                <a:lnTo>
                  <a:pt x="0" y="8393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319285" y="4831819"/>
            <a:ext cx="791802" cy="761570"/>
          </a:xfrm>
          <a:custGeom>
            <a:avLst/>
            <a:gdLst/>
            <a:ahLst/>
            <a:cxnLst/>
            <a:rect r="r" b="b" t="t" l="l"/>
            <a:pathLst>
              <a:path h="761570" w="791802">
                <a:moveTo>
                  <a:pt x="0" y="0"/>
                </a:moveTo>
                <a:lnTo>
                  <a:pt x="791803" y="0"/>
                </a:lnTo>
                <a:lnTo>
                  <a:pt x="791803" y="761569"/>
                </a:lnTo>
                <a:lnTo>
                  <a:pt x="0" y="7615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269237" y="6797013"/>
            <a:ext cx="841850" cy="809707"/>
          </a:xfrm>
          <a:custGeom>
            <a:avLst/>
            <a:gdLst/>
            <a:ahLst/>
            <a:cxnLst/>
            <a:rect r="r" b="b" t="t" l="l"/>
            <a:pathLst>
              <a:path h="809707" w="841850">
                <a:moveTo>
                  <a:pt x="0" y="0"/>
                </a:moveTo>
                <a:lnTo>
                  <a:pt x="841851" y="0"/>
                </a:lnTo>
                <a:lnTo>
                  <a:pt x="841851" y="809707"/>
                </a:lnTo>
                <a:lnTo>
                  <a:pt x="0" y="8097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200679" y="4047820"/>
            <a:ext cx="4800049" cy="188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8"/>
              </a:lnSpc>
            </a:pPr>
            <a:r>
              <a:rPr lang="en-US" b="true" sz="6073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COME LO</a:t>
            </a:r>
          </a:p>
          <a:p>
            <a:pPr algn="ctr" marL="0" indent="0" lvl="0">
              <a:lnSpc>
                <a:spcPts val="7288"/>
              </a:lnSpc>
              <a:spcBef>
                <a:spcPct val="0"/>
              </a:spcBef>
            </a:pPr>
            <a:r>
              <a:rPr lang="en-US" b="true" sz="6073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FA?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831083" y="2332825"/>
            <a:ext cx="4402447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57"/>
              </a:lnSpc>
              <a:spcBef>
                <a:spcPct val="0"/>
              </a:spcBef>
            </a:pPr>
            <a:r>
              <a:rPr lang="en-US" b="true" sz="3374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TASK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48423" y="3012146"/>
            <a:ext cx="6015843" cy="326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93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Classificazione multiclasse supervisionata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831083" y="4325779"/>
            <a:ext cx="4402447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57"/>
              </a:lnSpc>
              <a:spcBef>
                <a:spcPct val="0"/>
              </a:spcBef>
            </a:pPr>
            <a:r>
              <a:rPr lang="en-US" b="true" sz="3374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INPUT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48423" y="4954600"/>
            <a:ext cx="6015843" cy="65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93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Vettore di feature categoriche e numeriche (specifiche del dispositivo)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831083" y="6268565"/>
            <a:ext cx="4402447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57"/>
              </a:lnSpc>
              <a:spcBef>
                <a:spcPct val="0"/>
              </a:spcBef>
            </a:pPr>
            <a:r>
              <a:rPr lang="en-US" b="true" sz="3374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CLASSE TARGET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848423" y="6897386"/>
            <a:ext cx="6015843" cy="65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93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Prezzo normalizzato ingegnerizzato in 4 fasce di prezzo: Budget, Mid-Range, High-End, Premium </a:t>
            </a: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028700" y="1028700"/>
            <a:ext cx="5760720" cy="8229600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-1080000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0"/>
                  </a:move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lose/>
                </a:path>
              </a:pathLst>
            </a:custGeom>
            <a:blipFill>
              <a:blip r:embed="rId3">
                <a:alphaModFix amt="39000"/>
              </a:blip>
              <a:stretch>
                <a:fillRect l="0" t="-2532" r="0" b="-253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11465621" y="1708206"/>
            <a:ext cx="1334733" cy="133473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1465621" y="4324131"/>
            <a:ext cx="1334733" cy="133473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14269007" y="1708206"/>
            <a:ext cx="1334733" cy="133473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8781438" y="1708206"/>
            <a:ext cx="1334733" cy="133473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5400000">
            <a:off x="8781438" y="4324131"/>
            <a:ext cx="1334733" cy="133473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8632712" y="1600682"/>
            <a:ext cx="1632185" cy="1442258"/>
          </a:xfrm>
          <a:custGeom>
            <a:avLst/>
            <a:gdLst/>
            <a:ahLst/>
            <a:cxnLst/>
            <a:rect r="r" b="b" t="t" l="l"/>
            <a:pathLst>
              <a:path h="1442258" w="1632185">
                <a:moveTo>
                  <a:pt x="0" y="0"/>
                </a:moveTo>
                <a:lnTo>
                  <a:pt x="1632185" y="0"/>
                </a:lnTo>
                <a:lnTo>
                  <a:pt x="1632185" y="1442258"/>
                </a:lnTo>
                <a:lnTo>
                  <a:pt x="0" y="14422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35340" y="1038186"/>
            <a:ext cx="5754080" cy="8220114"/>
            <a:chOff x="0" y="0"/>
            <a:chExt cx="4445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585595" y="3504645"/>
            <a:ext cx="4646929" cy="296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2"/>
              </a:lnSpc>
            </a:pPr>
            <a:r>
              <a:rPr lang="en-US" sz="6335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OVERVIEW</a:t>
            </a:r>
          </a:p>
          <a:p>
            <a:pPr algn="ctr" marL="0" indent="0" lvl="0">
              <a:lnSpc>
                <a:spcPts val="7602"/>
              </a:lnSpc>
              <a:spcBef>
                <a:spcPct val="0"/>
              </a:spcBef>
            </a:pPr>
            <a:r>
              <a:rPr lang="en-US" b="true" sz="633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DEL PROCESSO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43432" y="3241841"/>
            <a:ext cx="2176471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Analisi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Dati e Issue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38206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38206" y="4478824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28937" y="3241841"/>
            <a:ext cx="2176471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Modelli e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Training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23711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60569" y="3241841"/>
            <a:ext cx="2176471" cy="880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Raccolta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Dati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655343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64418" y="5772028"/>
            <a:ext cx="2568772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Analisi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Prestazioni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38597" y="5820789"/>
            <a:ext cx="2599706" cy="1304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Considerazioni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Finali</a:t>
            </a:r>
          </a:p>
          <a:p>
            <a:pPr algn="ctr">
              <a:lnSpc>
                <a:spcPts val="3481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8655343" y="4478824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</p:spTree>
  </p:cSld>
  <p:clrMapOvr>
    <a:masterClrMapping/>
  </p:clrMapOvr>
  <p:transition spd="slow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16575" y="-1489570"/>
            <a:ext cx="4202211" cy="6003158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16605949" y="8402070"/>
            <a:ext cx="841991" cy="84199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543681" y="1640457"/>
            <a:ext cx="4904260" cy="7006086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solidFill>
              <a:srgbClr val="0A326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-10800000">
            <a:off x="16605949" y="1202778"/>
            <a:ext cx="5246522" cy="7495031"/>
            <a:chOff x="0" y="0"/>
            <a:chExt cx="4445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1144411" y="1337805"/>
            <a:ext cx="1224824" cy="122482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3454864" y="3730831"/>
            <a:ext cx="3081894" cy="3081894"/>
          </a:xfrm>
          <a:custGeom>
            <a:avLst/>
            <a:gdLst/>
            <a:ahLst/>
            <a:cxnLst/>
            <a:rect r="r" b="b" t="t" l="l"/>
            <a:pathLst>
              <a:path h="3081894" w="3081894">
                <a:moveTo>
                  <a:pt x="0" y="0"/>
                </a:moveTo>
                <a:lnTo>
                  <a:pt x="3081894" y="0"/>
                </a:lnTo>
                <a:lnTo>
                  <a:pt x="3081894" y="3081894"/>
                </a:lnTo>
                <a:lnTo>
                  <a:pt x="0" y="30818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85725" cap="rnd">
            <a:solidFill>
              <a:srgbClr val="145DA0"/>
            </a:solidFill>
            <a:prstDash val="solid"/>
            <a:round/>
          </a:ln>
        </p:spPr>
      </p:sp>
      <p:sp>
        <p:nvSpPr>
          <p:cNvPr name="TextBox 15" id="15"/>
          <p:cNvSpPr txBox="true"/>
          <p:nvPr/>
        </p:nvSpPr>
        <p:spPr>
          <a:xfrm rot="0">
            <a:off x="2766869" y="1477050"/>
            <a:ext cx="6645383" cy="961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73"/>
              </a:lnSpc>
              <a:spcBef>
                <a:spcPct val="0"/>
              </a:spcBef>
            </a:pPr>
            <a:r>
              <a:rPr lang="en-US" b="true" sz="6227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RACCOLTA DATI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1480657"/>
            <a:ext cx="1456246" cy="85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78154" y="2273941"/>
            <a:ext cx="6138901" cy="38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6"/>
              </a:lnSpc>
              <a:spcBef>
                <a:spcPct val="0"/>
              </a:spcBef>
            </a:pPr>
            <a:r>
              <a:rPr lang="en-US" sz="217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Fonte: </a:t>
            </a:r>
            <a:r>
              <a:rPr lang="en-US" sz="2178">
                <a:solidFill>
                  <a:srgbClr val="20BEFF"/>
                </a:solidFill>
                <a:latin typeface="Almarai"/>
                <a:ea typeface="Almarai"/>
                <a:cs typeface="Almarai"/>
                <a:sym typeface="Almarai"/>
              </a:rPr>
              <a:t>kaggle</a:t>
            </a:r>
            <a:r>
              <a:rPr lang="en-US" sz="217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454836" y="5395154"/>
            <a:ext cx="8785537" cy="1722657"/>
            <a:chOff x="0" y="0"/>
            <a:chExt cx="11714049" cy="2296875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5919498" y="1800589"/>
              <a:ext cx="969727" cy="496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6"/>
                </a:lnSpc>
                <a:spcBef>
                  <a:spcPct val="0"/>
                </a:spcBef>
              </a:pPr>
              <a:r>
                <a:rPr lang="en-US" sz="2178">
                  <a:solidFill>
                    <a:srgbClr val="FFFFFF"/>
                  </a:solidFill>
                  <a:latin typeface="Almarai"/>
                  <a:ea typeface="Almarai"/>
                  <a:cs typeface="Almarai"/>
                  <a:sym typeface="Almarai"/>
                </a:rPr>
                <a:t>Righe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985262" y="2638"/>
              <a:ext cx="3499362" cy="1780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379"/>
                </a:lnSpc>
                <a:spcBef>
                  <a:spcPct val="0"/>
                </a:spcBef>
              </a:pPr>
              <a:r>
                <a:rPr lang="en-US" b="true" sz="8649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3454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0061764" y="1800589"/>
              <a:ext cx="1652285" cy="496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6"/>
                </a:lnSpc>
                <a:spcBef>
                  <a:spcPct val="0"/>
                </a:spcBef>
              </a:pPr>
              <a:r>
                <a:rPr lang="en-US" sz="2178">
                  <a:solidFill>
                    <a:srgbClr val="FFFFFF"/>
                  </a:solidFill>
                  <a:latin typeface="Almarai"/>
                  <a:ea typeface="Almarai"/>
                  <a:cs typeface="Almarai"/>
                  <a:sym typeface="Almarai"/>
                </a:rPr>
                <a:t>Colonne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9975398" y="0"/>
              <a:ext cx="1515800" cy="1783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379"/>
                </a:lnSpc>
                <a:spcBef>
                  <a:spcPct val="0"/>
                </a:spcBef>
              </a:pPr>
              <a:r>
                <a:rPr lang="en-US" b="true" sz="8649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15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809489" y="1800589"/>
              <a:ext cx="1935009" cy="496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6"/>
                </a:lnSpc>
                <a:spcBef>
                  <a:spcPct val="0"/>
                </a:spcBef>
              </a:pPr>
              <a:r>
                <a:rPr lang="en-US" sz="2178">
                  <a:solidFill>
                    <a:srgbClr val="FFFFFF"/>
                  </a:solidFill>
                  <a:latin typeface="Almarai"/>
                  <a:ea typeface="Almarai"/>
                  <a:cs typeface="Almarai"/>
                  <a:sym typeface="Almarai"/>
                </a:rPr>
                <a:t>Downloads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2638"/>
              <a:ext cx="3499362" cy="1783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379"/>
                </a:lnSpc>
                <a:spcBef>
                  <a:spcPct val="0"/>
                </a:spcBef>
              </a:pPr>
              <a:r>
                <a:rPr lang="en-US" b="true" sz="8649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5K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225698" y="4504063"/>
            <a:ext cx="8014675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13"/>
              </a:lnSpc>
              <a:spcBef>
                <a:spcPct val="0"/>
              </a:spcBef>
            </a:pPr>
            <a:r>
              <a:rPr lang="en-US" b="true" sz="4928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USED_DEVICE_DATA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81008" y="6755575"/>
            <a:ext cx="1829606" cy="38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6"/>
              </a:lnSpc>
              <a:spcBef>
                <a:spcPct val="0"/>
              </a:spcBef>
            </a:pPr>
            <a:r>
              <a:rPr lang="en-US" sz="217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Link al dataset</a:t>
            </a:r>
          </a:p>
        </p:txBody>
      </p:sp>
    </p:spTree>
  </p:cSld>
  <p:clrMapOvr>
    <a:masterClrMapping/>
  </p:clrMapOvr>
  <p:transition spd="fast">
    <p:cover dir="d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025" y="5696230"/>
            <a:ext cx="4202211" cy="6003158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0"/>
                  </a:moveTo>
                  <a:cubicBezTo>
                    <a:pt x="995680" y="0"/>
                    <a:pt x="0" y="995680"/>
                    <a:pt x="0" y="2222500"/>
                  </a:cubicBezTo>
                  <a:lnTo>
                    <a:pt x="0" y="4127500"/>
                  </a:lnTo>
                  <a:cubicBezTo>
                    <a:pt x="0" y="5354320"/>
                    <a:pt x="995680" y="6350000"/>
                    <a:pt x="2222500" y="6350000"/>
                  </a:cubicBezTo>
                  <a:cubicBezTo>
                    <a:pt x="3449320" y="6350000"/>
                    <a:pt x="4445000" y="5354320"/>
                    <a:pt x="4445000" y="4127500"/>
                  </a:cubicBezTo>
                  <a:lnTo>
                    <a:pt x="4445000" y="2222500"/>
                  </a:lnTo>
                  <a:cubicBezTo>
                    <a:pt x="4445000" y="995680"/>
                    <a:pt x="3449320" y="0"/>
                    <a:pt x="2222500" y="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16605949" y="8402070"/>
            <a:ext cx="841991" cy="84199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16605949" y="1202778"/>
            <a:ext cx="5246522" cy="7495031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144411" y="1337805"/>
            <a:ext cx="1224824" cy="122482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9698002" y="66675"/>
          <a:ext cx="7315200" cy="10714802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0228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 b="true">
                          <a:solidFill>
                            <a:srgbClr val="FFFFFF"/>
                          </a:solidFill>
                          <a:latin typeface="Almarai Bold"/>
                          <a:ea typeface="Almarai Bold"/>
                          <a:cs typeface="Almarai Bold"/>
                          <a:sym typeface="Almarai Bold"/>
                        </a:rPr>
                        <a:t>Feature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DA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 b="true">
                          <a:solidFill>
                            <a:srgbClr val="FFFFFF"/>
                          </a:solidFill>
                          <a:latin typeface="Almarai Bold"/>
                          <a:ea typeface="Almarai Bold"/>
                          <a:cs typeface="Almarai Bold"/>
                          <a:sym typeface="Almarai Bold"/>
                        </a:rPr>
                        <a:t>Descrizione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DA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 b="true">
                          <a:solidFill>
                            <a:srgbClr val="FFFFFF"/>
                          </a:solidFill>
                          <a:latin typeface="Almarai Bold"/>
                          <a:ea typeface="Almarai Bold"/>
                          <a:cs typeface="Almarai Bold"/>
                          <a:sym typeface="Almarai Bold"/>
                        </a:rPr>
                        <a:t>Unità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DA0"/>
                    </a:solidFill>
                  </a:tcPr>
                </a:tc>
              </a:tr>
              <a:tr h="1022812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screen_size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Diagonale schermo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cm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531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rear_camera_mp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MegaPixel fotocamera post.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MP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531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front_camera_mp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MegaPixel fotocamera ant.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MP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28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battery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Capacità batteria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mAh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28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ram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Memoria RAM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GB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28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release_year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Anno di uscita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Anno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53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normalized_new_price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prezzo nuovo normalizzato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Valuta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40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normalized_used_price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prezzo usato normalizzato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valuta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2766869" y="1477050"/>
            <a:ext cx="6645383" cy="961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73"/>
              </a:lnSpc>
              <a:spcBef>
                <a:spcPct val="0"/>
              </a:spcBef>
            </a:pPr>
            <a:r>
              <a:rPr lang="en-US" b="true" sz="6227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RACCOLTA DATI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480657"/>
            <a:ext cx="1456246" cy="85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88130" y="7208070"/>
            <a:ext cx="2388000" cy="2388000"/>
          </a:xfrm>
          <a:custGeom>
            <a:avLst/>
            <a:gdLst/>
            <a:ahLst/>
            <a:cxnLst/>
            <a:rect r="r" b="b" t="t" l="l"/>
            <a:pathLst>
              <a:path h="2388000" w="2388000">
                <a:moveTo>
                  <a:pt x="0" y="0"/>
                </a:moveTo>
                <a:lnTo>
                  <a:pt x="2388000" y="0"/>
                </a:lnTo>
                <a:lnTo>
                  <a:pt x="2388000" y="2388000"/>
                </a:lnTo>
                <a:lnTo>
                  <a:pt x="0" y="23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85725" cap="rnd">
            <a:solidFill>
              <a:srgbClr val="145DA0"/>
            </a:solidFill>
            <a:prstDash val="solid"/>
            <a:round/>
          </a:ln>
        </p:spPr>
      </p:sp>
      <p:sp>
        <p:nvSpPr>
          <p:cNvPr name="TextBox 16" id="16"/>
          <p:cNvSpPr txBox="true"/>
          <p:nvPr/>
        </p:nvSpPr>
        <p:spPr>
          <a:xfrm rot="0">
            <a:off x="1756823" y="9538920"/>
            <a:ext cx="1829606" cy="38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6"/>
              </a:lnSpc>
              <a:spcBef>
                <a:spcPct val="0"/>
              </a:spcBef>
            </a:pPr>
            <a:r>
              <a:rPr lang="en-US" sz="217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Link al dataset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11465621" y="1708206"/>
            <a:ext cx="1334733" cy="133473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11465621" y="4324131"/>
            <a:ext cx="1334733" cy="133473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4269007" y="1708206"/>
            <a:ext cx="1334733" cy="133473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8781438" y="1708206"/>
            <a:ext cx="1334733" cy="133473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8781438" y="4324131"/>
            <a:ext cx="1334733" cy="133473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1344990" y="1600682"/>
            <a:ext cx="1632185" cy="1442258"/>
          </a:xfrm>
          <a:custGeom>
            <a:avLst/>
            <a:gdLst/>
            <a:ahLst/>
            <a:cxnLst/>
            <a:rect r="r" b="b" t="t" l="l"/>
            <a:pathLst>
              <a:path h="1442258" w="1632185">
                <a:moveTo>
                  <a:pt x="0" y="0"/>
                </a:moveTo>
                <a:lnTo>
                  <a:pt x="1632184" y="0"/>
                </a:lnTo>
                <a:lnTo>
                  <a:pt x="1632184" y="1442258"/>
                </a:lnTo>
                <a:lnTo>
                  <a:pt x="0" y="14422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10800000">
            <a:off x="1028700" y="1028700"/>
            <a:ext cx="5760720" cy="8229600"/>
            <a:chOff x="0" y="0"/>
            <a:chExt cx="4445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-1080000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0"/>
                  </a:move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lose/>
                </a:path>
              </a:pathLst>
            </a:custGeom>
            <a:blipFill>
              <a:blip r:embed="rId5">
                <a:alphaModFix amt="39000"/>
              </a:blip>
              <a:stretch>
                <a:fillRect l="0" t="-2532" r="0" b="-253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35340" y="1038186"/>
            <a:ext cx="5754080" cy="8220114"/>
            <a:chOff x="0" y="0"/>
            <a:chExt cx="4445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585595" y="3504645"/>
            <a:ext cx="4646929" cy="296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2"/>
              </a:lnSpc>
            </a:pPr>
            <a:r>
              <a:rPr lang="en-US" sz="6335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OVERVIEW</a:t>
            </a:r>
          </a:p>
          <a:p>
            <a:pPr algn="ctr" marL="0" indent="0" lvl="0">
              <a:lnSpc>
                <a:spcPts val="7602"/>
              </a:lnSpc>
              <a:spcBef>
                <a:spcPct val="0"/>
              </a:spcBef>
            </a:pPr>
            <a:r>
              <a:rPr lang="en-US" b="true" sz="633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DEL PROCESSO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43432" y="3241841"/>
            <a:ext cx="2176471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Analisi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Dati e Issue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38206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38206" y="4478824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28937" y="3241841"/>
            <a:ext cx="2176471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Modelli e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Training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23711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60569" y="3241841"/>
            <a:ext cx="2176471" cy="880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Raccolta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Dati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655343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64418" y="5772028"/>
            <a:ext cx="2568772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Analisi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Prestazioni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38597" y="5820789"/>
            <a:ext cx="2599706" cy="1304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Considerazioni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Finali</a:t>
            </a:r>
          </a:p>
          <a:p>
            <a:pPr algn="ctr">
              <a:lnSpc>
                <a:spcPts val="3481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8655343" y="4478824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</p:spTree>
  </p:cSld>
  <p:clrMapOvr>
    <a:masterClrMapping/>
  </p:clrMapOvr>
  <p:transition spd="fast">
    <p:cover dir="d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1994836" y="1185435"/>
            <a:ext cx="1943100" cy="161652"/>
            <a:chOff x="0" y="0"/>
            <a:chExt cx="511763" cy="42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391927" y="653850"/>
            <a:ext cx="1224824" cy="122482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8646825" y="5468707"/>
            <a:ext cx="9122700" cy="4492930"/>
          </a:xfrm>
          <a:custGeom>
            <a:avLst/>
            <a:gdLst/>
            <a:ahLst/>
            <a:cxnLst/>
            <a:rect r="r" b="b" t="t" l="l"/>
            <a:pathLst>
              <a:path h="4492930" w="9122700">
                <a:moveTo>
                  <a:pt x="0" y="0"/>
                </a:moveTo>
                <a:lnTo>
                  <a:pt x="9122701" y="0"/>
                </a:lnTo>
                <a:lnTo>
                  <a:pt x="9122701" y="4492930"/>
                </a:lnTo>
                <a:lnTo>
                  <a:pt x="0" y="44929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552433" y="6830850"/>
            <a:ext cx="3295986" cy="3169989"/>
          </a:xfrm>
          <a:custGeom>
            <a:avLst/>
            <a:gdLst/>
            <a:ahLst/>
            <a:cxnLst/>
            <a:rect r="r" b="b" t="t" l="l"/>
            <a:pathLst>
              <a:path h="3169989" w="3295986">
                <a:moveTo>
                  <a:pt x="0" y="0"/>
                </a:moveTo>
                <a:lnTo>
                  <a:pt x="3295985" y="0"/>
                </a:lnTo>
                <a:lnTo>
                  <a:pt x="3295985" y="3169989"/>
                </a:lnTo>
                <a:lnTo>
                  <a:pt x="0" y="31699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42624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8100000">
            <a:off x="948645" y="4023056"/>
            <a:ext cx="3207575" cy="2723523"/>
          </a:xfrm>
          <a:custGeom>
            <a:avLst/>
            <a:gdLst/>
            <a:ahLst/>
            <a:cxnLst/>
            <a:rect r="r" b="b" t="t" l="l"/>
            <a:pathLst>
              <a:path h="2723523" w="3207575">
                <a:moveTo>
                  <a:pt x="3207575" y="0"/>
                </a:moveTo>
                <a:lnTo>
                  <a:pt x="0" y="0"/>
                </a:lnTo>
                <a:lnTo>
                  <a:pt x="0" y="2723523"/>
                </a:lnTo>
                <a:lnTo>
                  <a:pt x="3207575" y="2723523"/>
                </a:lnTo>
                <a:lnTo>
                  <a:pt x="3207575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450061" y="285186"/>
            <a:ext cx="6684237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ISSUE: ZERI FITTIZZI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85560" y="2404700"/>
            <a:ext cx="12684476" cy="1503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Nel dataset originale sono presenti 0 semanticamente impossibili, probabilmente usati per nascondere dei missing values, nonostante questi siano in bassa quantità, è bene convertirli in NaN per distinguere l’assenza di informazione dal valore numerico zero e permettere l’imputazione. </a:t>
            </a:r>
          </a:p>
          <a:p>
            <a:pPr algn="l">
              <a:lnSpc>
                <a:spcPts val="3035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76216" y="796701"/>
            <a:ext cx="1456246" cy="85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85484" y="4311834"/>
            <a:ext cx="6645383" cy="95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73"/>
              </a:lnSpc>
              <a:spcBef>
                <a:spcPct val="0"/>
              </a:spcBef>
            </a:pPr>
            <a:r>
              <a:rPr lang="en-US" b="true" sz="6227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DISTRIBUZIONE</a:t>
            </a:r>
          </a:p>
        </p:txBody>
      </p: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450061" y="3339867"/>
            <a:ext cx="2323149" cy="232314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792390" y="3339867"/>
            <a:ext cx="2323149" cy="232314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100661" y="3899728"/>
            <a:ext cx="6364277" cy="1203427"/>
          </a:xfrm>
          <a:custGeom>
            <a:avLst/>
            <a:gdLst/>
            <a:ahLst/>
            <a:cxnLst/>
            <a:rect r="r" b="b" t="t" l="l"/>
            <a:pathLst>
              <a:path h="1203427" w="6364277">
                <a:moveTo>
                  <a:pt x="0" y="0"/>
                </a:moveTo>
                <a:lnTo>
                  <a:pt x="6364278" y="0"/>
                </a:lnTo>
                <a:lnTo>
                  <a:pt x="6364278" y="1203427"/>
                </a:lnTo>
                <a:lnTo>
                  <a:pt x="0" y="1203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254229" y="3852811"/>
            <a:ext cx="714813" cy="125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4"/>
              </a:lnSpc>
              <a:spcBef>
                <a:spcPct val="0"/>
              </a:spcBef>
            </a:pPr>
            <a:r>
              <a:rPr lang="en-US" sz="7387">
                <a:solidFill>
                  <a:srgbClr val="031E40"/>
                </a:solidFill>
                <a:latin typeface="Almarai"/>
                <a:ea typeface="Almarai"/>
                <a:cs typeface="Almarai"/>
                <a:sym typeface="Almarai"/>
              </a:rPr>
              <a:t>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77434" y="3852811"/>
            <a:ext cx="2153061" cy="125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4"/>
              </a:lnSpc>
              <a:spcBef>
                <a:spcPct val="0"/>
              </a:spcBef>
            </a:pPr>
            <a:r>
              <a:rPr lang="en-US" sz="7387">
                <a:solidFill>
                  <a:srgbClr val="031E40"/>
                </a:solidFill>
                <a:latin typeface="Almarai"/>
                <a:ea typeface="Almarai"/>
                <a:cs typeface="Almarai"/>
                <a:sym typeface="Almarai"/>
              </a:rPr>
              <a:t>NaN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1927" y="6445578"/>
            <a:ext cx="16537825" cy="163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67" indent="-334633" lvl="1">
              <a:lnSpc>
                <a:spcPts val="4277"/>
              </a:lnSpc>
              <a:buFont typeface="Arial"/>
              <a:buChar char="•"/>
            </a:pPr>
            <a:r>
              <a:rPr lang="en-US" b="true" sz="3099">
                <a:solidFill>
                  <a:srgbClr val="145DA0"/>
                </a:solidFill>
                <a:latin typeface="Almarai Bold"/>
                <a:ea typeface="Almarai Bold"/>
                <a:cs typeface="Almarai Bold"/>
                <a:sym typeface="Almarai Bold"/>
              </a:rPr>
              <a:t>Coerenza semantica</a:t>
            </a:r>
            <a:r>
              <a:rPr lang="en-US" sz="309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: Distinguere l’assenza di informazione dal valore numerico zero.</a:t>
            </a:r>
          </a:p>
          <a:p>
            <a:pPr algn="l" marL="669267" indent="-334633" lvl="1">
              <a:lnSpc>
                <a:spcPts val="4277"/>
              </a:lnSpc>
              <a:buFont typeface="Arial"/>
              <a:buChar char="•"/>
            </a:pPr>
            <a:r>
              <a:rPr lang="en-US" b="true" sz="3099">
                <a:solidFill>
                  <a:srgbClr val="145DA0"/>
                </a:solidFill>
                <a:latin typeface="Almarai Bold"/>
                <a:ea typeface="Almarai Bold"/>
                <a:cs typeface="Almarai Bold"/>
                <a:sym typeface="Almarai Bold"/>
              </a:rPr>
              <a:t>Compatibilità tecnica</a:t>
            </a:r>
            <a:r>
              <a:rPr lang="en-US" sz="309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: Permettere l’utilizzo degli algoritmi di imputazione standard (che ignorano o gestiscono specificamente i NaN durante il calcolo delle statistiche). </a:t>
            </a:r>
          </a:p>
        </p:txBody>
      </p:sp>
      <p:grpSp>
        <p:nvGrpSpPr>
          <p:cNvPr name="Group 16" id="16"/>
          <p:cNvGrpSpPr/>
          <p:nvPr/>
        </p:nvGrpSpPr>
        <p:grpSpPr>
          <a:xfrm rot="5400000">
            <a:off x="1994836" y="1185435"/>
            <a:ext cx="1943100" cy="161652"/>
            <a:chOff x="0" y="0"/>
            <a:chExt cx="511763" cy="425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5400000">
            <a:off x="1391927" y="653850"/>
            <a:ext cx="1224824" cy="122482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3450061" y="285186"/>
            <a:ext cx="882343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ISSUE: ZERI FITTIZZI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6216" y="796701"/>
            <a:ext cx="1456246" cy="85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450061" y="1318221"/>
            <a:ext cx="9014878" cy="74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91"/>
              </a:lnSpc>
              <a:spcBef>
                <a:spcPct val="0"/>
              </a:spcBef>
            </a:pPr>
            <a:r>
              <a:rPr lang="en-US" b="true" sz="4826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SOLUZIONE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10303" y="2989327"/>
            <a:ext cx="1867358" cy="186735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79475" y="2989327"/>
            <a:ext cx="1867358" cy="186735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15966396" y="9258300"/>
            <a:ext cx="13457996" cy="3264379"/>
            <a:chOff x="0" y="0"/>
            <a:chExt cx="17943995" cy="43525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600097" y="861572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26202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194248" y="202855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3794345" y="1064427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26202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460989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8" y="0"/>
                </a:lnTo>
                <a:lnTo>
                  <a:pt x="8754598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5760078" y="-781916"/>
            <a:ext cx="1683983" cy="2405689"/>
            <a:chOff x="0" y="0"/>
            <a:chExt cx="4445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5400000">
            <a:off x="14468192" y="781782"/>
            <a:ext cx="841991" cy="84199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t="0" r="-12621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255419" y="2066886"/>
            <a:ext cx="5754080" cy="8220114"/>
            <a:chOff x="0" y="0"/>
            <a:chExt cx="4445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885560" y="5231168"/>
            <a:ext cx="94516" cy="2130893"/>
            <a:chOff x="0" y="0"/>
            <a:chExt cx="24893" cy="56122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893" cy="561223"/>
            </a:xfrm>
            <a:custGeom>
              <a:avLst/>
              <a:gdLst/>
              <a:ahLst/>
              <a:cxnLst/>
              <a:rect r="r" b="b" t="t" l="l"/>
              <a:pathLst>
                <a:path h="561223" w="24893">
                  <a:moveTo>
                    <a:pt x="0" y="0"/>
                  </a:moveTo>
                  <a:lnTo>
                    <a:pt x="24893" y="0"/>
                  </a:lnTo>
                  <a:lnTo>
                    <a:pt x="24893" y="561223"/>
                  </a:lnTo>
                  <a:lnTo>
                    <a:pt x="0" y="561223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4893" cy="608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777573" y="5231168"/>
            <a:ext cx="94516" cy="2130893"/>
            <a:chOff x="0" y="0"/>
            <a:chExt cx="24893" cy="56122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893" cy="561223"/>
            </a:xfrm>
            <a:custGeom>
              <a:avLst/>
              <a:gdLst/>
              <a:ahLst/>
              <a:cxnLst/>
              <a:rect r="r" b="b" t="t" l="l"/>
              <a:pathLst>
                <a:path h="561223" w="24893">
                  <a:moveTo>
                    <a:pt x="0" y="0"/>
                  </a:moveTo>
                  <a:lnTo>
                    <a:pt x="24893" y="0"/>
                  </a:lnTo>
                  <a:lnTo>
                    <a:pt x="24893" y="561223"/>
                  </a:lnTo>
                  <a:lnTo>
                    <a:pt x="0" y="561223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4893" cy="608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4887303" y="3190823"/>
            <a:ext cx="1051701" cy="1460696"/>
          </a:xfrm>
          <a:custGeom>
            <a:avLst/>
            <a:gdLst/>
            <a:ahLst/>
            <a:cxnLst/>
            <a:rect r="r" b="b" t="t" l="l"/>
            <a:pathLst>
              <a:path h="1460696" w="1051701">
                <a:moveTo>
                  <a:pt x="0" y="0"/>
                </a:moveTo>
                <a:lnTo>
                  <a:pt x="1051702" y="0"/>
                </a:lnTo>
                <a:lnTo>
                  <a:pt x="1051702" y="1460696"/>
                </a:lnTo>
                <a:lnTo>
                  <a:pt x="0" y="14606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242558" y="3118351"/>
            <a:ext cx="1609310" cy="1609310"/>
          </a:xfrm>
          <a:custGeom>
            <a:avLst/>
            <a:gdLst/>
            <a:ahLst/>
            <a:cxnLst/>
            <a:rect r="r" b="b" t="t" l="l"/>
            <a:pathLst>
              <a:path h="1609310" w="1609310">
                <a:moveTo>
                  <a:pt x="0" y="0"/>
                </a:moveTo>
                <a:lnTo>
                  <a:pt x="1609310" y="0"/>
                </a:lnTo>
                <a:lnTo>
                  <a:pt x="1609310" y="1609311"/>
                </a:lnTo>
                <a:lnTo>
                  <a:pt x="0" y="16093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284872" y="5841088"/>
            <a:ext cx="4916620" cy="1139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7"/>
              </a:lnSpc>
              <a:spcBef>
                <a:spcPct val="0"/>
              </a:spcBef>
            </a:pPr>
            <a:r>
              <a:rPr lang="en-US" sz="2215" strike="noStrike" u="non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soluzione FallBack con la mediana globale della colonna. (in caso di gruppi troppo piccoli)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389651" y="5902433"/>
            <a:ext cx="5229454" cy="1901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7"/>
              </a:lnSpc>
              <a:spcBef>
                <a:spcPct val="0"/>
              </a:spcBef>
            </a:pPr>
            <a:r>
              <a:rPr lang="en-US" sz="2215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La Mediana l</a:t>
            </a:r>
            <a:r>
              <a:rPr lang="en-US" sz="2215" strike="noStrike" u="non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ocale è una soluzione domain-driven, di fatto consideriamo brand e anno come criterio di selezione del gruppo per dare un senso più logico alla nostra imputazione.  (Gruppo = Brand + anno)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389651" y="5174018"/>
            <a:ext cx="4563412" cy="46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7"/>
              </a:lnSpc>
              <a:spcBef>
                <a:spcPct val="0"/>
              </a:spcBef>
            </a:pPr>
            <a:r>
              <a:rPr lang="en-US" b="true" sz="271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MEDIANA LOCALE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281664" y="5174018"/>
            <a:ext cx="4026849" cy="46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7"/>
              </a:lnSpc>
              <a:spcBef>
                <a:spcPct val="0"/>
              </a:spcBef>
            </a:pPr>
            <a:r>
              <a:rPr lang="en-US" b="true" sz="271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MEDIANA GLOBALE</a:t>
            </a:r>
          </a:p>
        </p:txBody>
      </p:sp>
      <p:grpSp>
        <p:nvGrpSpPr>
          <p:cNvPr name="Group 36" id="36"/>
          <p:cNvGrpSpPr/>
          <p:nvPr/>
        </p:nvGrpSpPr>
        <p:grpSpPr>
          <a:xfrm rot="5400000">
            <a:off x="1994836" y="1185435"/>
            <a:ext cx="1943100" cy="161652"/>
            <a:chOff x="0" y="0"/>
            <a:chExt cx="511763" cy="4257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5400000">
            <a:off x="1391927" y="653850"/>
            <a:ext cx="1224824" cy="1224824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t="0" r="-126211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3450061" y="285186"/>
            <a:ext cx="882343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ISSUE: ZERI FITTIZZI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76216" y="796701"/>
            <a:ext cx="1456246" cy="85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450061" y="1318221"/>
            <a:ext cx="9014878" cy="74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91"/>
              </a:lnSpc>
              <a:spcBef>
                <a:spcPct val="0"/>
              </a:spcBef>
            </a:pPr>
            <a:r>
              <a:rPr lang="en-US" b="true" sz="4826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SOLUZIONE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358454" y="3402747"/>
            <a:ext cx="9571092" cy="5694800"/>
          </a:xfrm>
          <a:custGeom>
            <a:avLst/>
            <a:gdLst/>
            <a:ahLst/>
            <a:cxnLst/>
            <a:rect r="r" b="b" t="t" l="l"/>
            <a:pathLst>
              <a:path h="5694800" w="9571092">
                <a:moveTo>
                  <a:pt x="0" y="0"/>
                </a:moveTo>
                <a:lnTo>
                  <a:pt x="9571092" y="0"/>
                </a:lnTo>
                <a:lnTo>
                  <a:pt x="9571092" y="5694800"/>
                </a:lnTo>
                <a:lnTo>
                  <a:pt x="0" y="569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48014" y="9278522"/>
            <a:ext cx="6591971" cy="755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Sono evidenti circa 270 dispositivi identificati come Tablet, circa l’8% del dataset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61377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994836" y="1185435"/>
            <a:ext cx="1943100" cy="161652"/>
            <a:chOff x="0" y="0"/>
            <a:chExt cx="511763" cy="425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1391927" y="653850"/>
            <a:ext cx="1224824" cy="122482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3450061" y="285186"/>
            <a:ext cx="4670879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ISSUE: OUTLIER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6216" y="796701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85560" y="2423712"/>
            <a:ext cx="11043986" cy="652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5"/>
              </a:lnSpc>
              <a:spcBef>
                <a:spcPct val="0"/>
              </a:spcBef>
            </a:pPr>
            <a:r>
              <a:rPr lang="en-US" sz="1887">
                <a:solidFill>
                  <a:srgbClr val="FEFEFE"/>
                </a:solidFill>
                <a:latin typeface="Almarai"/>
                <a:ea typeface="Almarai"/>
                <a:cs typeface="Almarai"/>
                <a:sym typeface="Almarai"/>
              </a:rPr>
              <a:t>I</a:t>
            </a:r>
            <a:r>
              <a:rPr lang="en-US" sz="1887">
                <a:solidFill>
                  <a:srgbClr val="FEFEFE"/>
                </a:solidFill>
                <a:latin typeface="Almarai"/>
                <a:ea typeface="Almarai"/>
                <a:cs typeface="Almarai"/>
                <a:sym typeface="Almarai"/>
              </a:rPr>
              <a:t>l dataset di partenza conteneva dispositivi con peso &gt; 300g e schermo &gt;20cm, questi sono Tablet e non smartphone e rappresentano una piccola parte del dataset, sono stati classificati come outlier.</a:t>
            </a:r>
          </a:p>
        </p:txBody>
      </p:sp>
    </p:spTree>
  </p:cSld>
  <p:clrMapOvr>
    <a:masterClrMapping/>
  </p:clrMapOvr>
  <p:transition spd="fast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254229" y="5656444"/>
            <a:ext cx="714813" cy="125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4"/>
              </a:lnSpc>
              <a:spcBef>
                <a:spcPct val="0"/>
              </a:spcBef>
            </a:pPr>
            <a:r>
              <a:rPr lang="en-US" sz="7387">
                <a:solidFill>
                  <a:srgbClr val="031E40"/>
                </a:solidFill>
                <a:latin typeface="Almarai"/>
                <a:ea typeface="Almarai"/>
                <a:cs typeface="Almarai"/>
                <a:sym typeface="Almarai"/>
              </a:rPr>
              <a:t>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85560" y="2394043"/>
            <a:ext cx="12794238" cy="1615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67" indent="-334633" lvl="1">
              <a:lnSpc>
                <a:spcPts val="4277"/>
              </a:lnSpc>
              <a:buFont typeface="Arial"/>
              <a:buChar char="•"/>
            </a:pPr>
            <a:r>
              <a:rPr lang="en-US" b="true" sz="3099">
                <a:solidFill>
                  <a:srgbClr val="145DA0"/>
                </a:solidFill>
                <a:latin typeface="Almarai Bold"/>
                <a:ea typeface="Almarai Bold"/>
                <a:cs typeface="Almarai Bold"/>
                <a:sym typeface="Almarai Bold"/>
              </a:rPr>
              <a:t>Eliminazione di tutti i tablet</a:t>
            </a:r>
            <a:r>
              <a:rPr lang="en-US" sz="309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: I tablet sono in netta minoranza rispetto ai cellulari, inoltre dealHunter ha come task la classificazione di smartphone usati, non tablet.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50061" y="1130008"/>
            <a:ext cx="9014878" cy="74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91"/>
              </a:lnSpc>
              <a:spcBef>
                <a:spcPct val="0"/>
              </a:spcBef>
            </a:pPr>
            <a:r>
              <a:rPr lang="en-US" b="true" sz="4826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SOLUZIONE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69042" y="4791277"/>
            <a:ext cx="8014675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13"/>
              </a:lnSpc>
              <a:spcBef>
                <a:spcPct val="0"/>
              </a:spcBef>
            </a:pPr>
            <a:r>
              <a:rPr lang="en-US" b="true" sz="4928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PERCHÈ?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09445" y="7164743"/>
            <a:ext cx="906740" cy="38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6"/>
              </a:lnSpc>
              <a:spcBef>
                <a:spcPct val="0"/>
              </a:spcBef>
            </a:pPr>
            <a:r>
              <a:rPr lang="en-US" sz="217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grammi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06668" y="5830567"/>
            <a:ext cx="2497707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379"/>
              </a:lnSpc>
              <a:spcBef>
                <a:spcPct val="0"/>
              </a:spcBef>
            </a:pPr>
            <a:r>
              <a:rPr lang="en-US" b="true" sz="8649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300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26166" y="7164743"/>
            <a:ext cx="1381133" cy="38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6"/>
              </a:lnSpc>
              <a:spcBef>
                <a:spcPct val="0"/>
              </a:spcBef>
            </a:pPr>
            <a:r>
              <a:rPr lang="en-US" sz="217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cm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48384" y="5830567"/>
            <a:ext cx="2497707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379"/>
              </a:lnSpc>
              <a:spcBef>
                <a:spcPct val="0"/>
              </a:spcBef>
            </a:pPr>
            <a:r>
              <a:rPr lang="en-US" b="true" sz="8649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20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61377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5400000">
            <a:off x="1994836" y="1185435"/>
            <a:ext cx="1943100" cy="161652"/>
            <a:chOff x="0" y="0"/>
            <a:chExt cx="511763" cy="425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5400000">
            <a:off x="1391927" y="653850"/>
            <a:ext cx="1224824" cy="122482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3450061" y="285186"/>
            <a:ext cx="882343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ISSUE: OUTLIER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76216" y="796701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493371" y="4192159"/>
            <a:ext cx="11301259" cy="3969567"/>
          </a:xfrm>
          <a:custGeom>
            <a:avLst/>
            <a:gdLst/>
            <a:ahLst/>
            <a:cxnLst/>
            <a:rect r="r" b="b" t="t" l="l"/>
            <a:pathLst>
              <a:path h="3969567" w="11301259">
                <a:moveTo>
                  <a:pt x="0" y="0"/>
                </a:moveTo>
                <a:lnTo>
                  <a:pt x="11301258" y="0"/>
                </a:lnTo>
                <a:lnTo>
                  <a:pt x="11301258" y="3969567"/>
                </a:lnTo>
                <a:lnTo>
                  <a:pt x="0" y="39695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85560" y="2350462"/>
            <a:ext cx="10543509" cy="652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5"/>
              </a:lnSpc>
              <a:spcBef>
                <a:spcPct val="0"/>
              </a:spcBef>
            </a:pPr>
            <a:r>
              <a:rPr lang="en-US" sz="188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la colonna target originale (normalized used price) aveva una distribuzione continua e sbilanciata, aveva un picco verso i prezzi bassi e una coda lunga sui prezzi alti.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61377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994836" y="1185435"/>
            <a:ext cx="1943100" cy="161652"/>
            <a:chOff x="0" y="0"/>
            <a:chExt cx="511763" cy="425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1391927" y="653850"/>
            <a:ext cx="1224824" cy="122482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3493371" y="285186"/>
            <a:ext cx="11163714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ISSUE: DISTRIBUZIONE SBILANCIATA DEI PREZZI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6216" y="796701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03</a:t>
            </a:r>
          </a:p>
        </p:txBody>
      </p:sp>
    </p:spTree>
  </p:cSld>
  <p:clrMapOvr>
    <a:masterClrMapping/>
  </p:clrMapOvr>
  <p:transition spd="fast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885560" y="2465810"/>
            <a:ext cx="10543509" cy="652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5"/>
              </a:lnSpc>
              <a:spcBef>
                <a:spcPct val="0"/>
              </a:spcBef>
            </a:pPr>
            <a:r>
              <a:rPr lang="en-US" sz="188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Le colonne relative ai prezzi, erano state normalizzate dall’ideatore del dataset secondo una formula a noi sconosciuta.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004339" y="4272927"/>
          <a:ext cx="7315200" cy="3419475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0306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 b="true">
                          <a:solidFill>
                            <a:srgbClr val="FFFFFF"/>
                          </a:solidFill>
                          <a:latin typeface="Almarai Bold"/>
                          <a:ea typeface="Almarai Bold"/>
                          <a:cs typeface="Almarai Bold"/>
                          <a:sym typeface="Almarai Bold"/>
                        </a:rPr>
                        <a:t>Feature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DA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 b="true">
                          <a:solidFill>
                            <a:srgbClr val="FFFFFF"/>
                          </a:solidFill>
                          <a:latin typeface="Almarai Bold"/>
                          <a:ea typeface="Almarai Bold"/>
                          <a:cs typeface="Almarai Bold"/>
                          <a:sym typeface="Almarai Bold"/>
                        </a:rPr>
                        <a:t>Descrizione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DA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 b="true">
                          <a:solidFill>
                            <a:srgbClr val="FFFFFF"/>
                          </a:solidFill>
                          <a:latin typeface="Almarai Bold"/>
                          <a:ea typeface="Almarai Bold"/>
                          <a:cs typeface="Almarai Bold"/>
                          <a:sym typeface="Almarai Bold"/>
                        </a:rPr>
                        <a:t>Unità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DA0"/>
                    </a:solidFill>
                  </a:tcPr>
                </a:tc>
              </a:tr>
              <a:tr h="11944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normalized_used_price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prezzo usato normalizzato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Valuta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44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normalized_ new_price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prezzo nuovo normalizzato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Valuta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8" id="8"/>
          <p:cNvSpPr/>
          <p:nvPr/>
        </p:nvSpPr>
        <p:spPr>
          <a:xfrm>
            <a:off x="9319539" y="6942594"/>
            <a:ext cx="275041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>
            <a:off x="9319539" y="5820246"/>
            <a:ext cx="275041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2069954" y="3832854"/>
            <a:ext cx="4560542" cy="3974784"/>
          </a:xfrm>
          <a:custGeom>
            <a:avLst/>
            <a:gdLst/>
            <a:ahLst/>
            <a:cxnLst/>
            <a:rect r="r" b="b" t="t" l="l"/>
            <a:pathLst>
              <a:path h="3974784" w="4560542">
                <a:moveTo>
                  <a:pt x="0" y="0"/>
                </a:moveTo>
                <a:lnTo>
                  <a:pt x="4560541" y="0"/>
                </a:lnTo>
                <a:lnTo>
                  <a:pt x="4560541" y="3974784"/>
                </a:lnTo>
                <a:lnTo>
                  <a:pt x="0" y="3974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solidFill>
              <a:srgbClr val="145DA0"/>
            </a:solidFill>
            <a:prstDash val="solid"/>
            <a:round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461377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5400000">
            <a:off x="1994836" y="1185435"/>
            <a:ext cx="1943100" cy="161652"/>
            <a:chOff x="0" y="0"/>
            <a:chExt cx="511763" cy="425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5400000">
            <a:off x="1391927" y="653850"/>
            <a:ext cx="1224824" cy="122482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3493371" y="285186"/>
            <a:ext cx="11163714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ISSUE: DISTRIBUZIONE SBILANCIATA DEI PREZZI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6216" y="796701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03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938748" y="3424626"/>
            <a:ext cx="9320552" cy="5732139"/>
          </a:xfrm>
          <a:custGeom>
            <a:avLst/>
            <a:gdLst/>
            <a:ahLst/>
            <a:cxnLst/>
            <a:rect r="r" b="b" t="t" l="l"/>
            <a:pathLst>
              <a:path h="5732139" w="9320552">
                <a:moveTo>
                  <a:pt x="0" y="0"/>
                </a:moveTo>
                <a:lnTo>
                  <a:pt x="9320552" y="0"/>
                </a:lnTo>
                <a:lnTo>
                  <a:pt x="9320552" y="5732140"/>
                </a:lnTo>
                <a:lnTo>
                  <a:pt x="0" y="5732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54229" y="4297875"/>
            <a:ext cx="714813" cy="125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4"/>
              </a:lnSpc>
              <a:spcBef>
                <a:spcPct val="0"/>
              </a:spcBef>
            </a:pPr>
            <a:r>
              <a:rPr lang="en-US" sz="7387">
                <a:solidFill>
                  <a:srgbClr val="031E40"/>
                </a:solidFill>
                <a:latin typeface="Almarai"/>
                <a:ea typeface="Almarai"/>
                <a:cs typeface="Almarai"/>
                <a:sym typeface="Almarai"/>
              </a:rPr>
              <a:t>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1927" y="3377829"/>
            <a:ext cx="6057522" cy="5550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2484" indent="-311242" lvl="1">
              <a:lnSpc>
                <a:spcPts val="3978"/>
              </a:lnSpc>
              <a:buFont typeface="Arial"/>
              <a:buChar char="•"/>
            </a:pPr>
            <a:r>
              <a:rPr lang="en-US" b="true" sz="2883">
                <a:solidFill>
                  <a:srgbClr val="145DA0"/>
                </a:solidFill>
                <a:latin typeface="Almarai Bold"/>
                <a:ea typeface="Almarai Bold"/>
                <a:cs typeface="Almarai Bold"/>
                <a:sym typeface="Almarai Bold"/>
              </a:rPr>
              <a:t>Eliminazione colonna: </a:t>
            </a:r>
            <a:r>
              <a:rPr lang="en-US" sz="2883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normalized_new_price fa riferimento al prezzo del dispositivo quando esso è nuovo, non influente nel nostro task e a rischio di confondere il modello.</a:t>
            </a:r>
          </a:p>
          <a:p>
            <a:pPr algn="l" marL="622484" indent="-311242" lvl="1">
              <a:lnSpc>
                <a:spcPts val="3978"/>
              </a:lnSpc>
              <a:buFont typeface="Arial"/>
              <a:buChar char="•"/>
            </a:pPr>
            <a:r>
              <a:rPr lang="en-US" b="true" sz="2883">
                <a:solidFill>
                  <a:srgbClr val="145DA0"/>
                </a:solidFill>
                <a:latin typeface="Almarai Bold"/>
                <a:ea typeface="Almarai Bold"/>
                <a:cs typeface="Almarai Bold"/>
                <a:sym typeface="Almarai Bold"/>
              </a:rPr>
              <a:t>Sostituzione colonna:</a:t>
            </a:r>
            <a:r>
              <a:rPr lang="en-US" b="true" sz="2883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</a:t>
            </a:r>
            <a:r>
              <a:rPr lang="en-US" sz="2883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sostituiamo la colonna normalized_used_price con la nuova price_category, calcolata secondo il metodo qcut.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93371" y="2275911"/>
            <a:ext cx="9014878" cy="74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91"/>
              </a:lnSpc>
              <a:spcBef>
                <a:spcPct val="0"/>
              </a:spcBef>
            </a:pPr>
            <a:r>
              <a:rPr lang="en-US" b="true" sz="4826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SOLUZIONE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61377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994836" y="1185435"/>
            <a:ext cx="1943100" cy="161652"/>
            <a:chOff x="0" y="0"/>
            <a:chExt cx="511763" cy="425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5400000">
            <a:off x="1391927" y="653850"/>
            <a:ext cx="1224824" cy="122482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3493371" y="285186"/>
            <a:ext cx="11163714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ISSUE: DISTRIBUZIONE SBILANCIATA DEI PREZZI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6216" y="796701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03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254229" y="4297875"/>
            <a:ext cx="714813" cy="125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4"/>
              </a:lnSpc>
              <a:spcBef>
                <a:spcPct val="0"/>
              </a:spcBef>
            </a:pPr>
            <a:r>
              <a:rPr lang="en-US" sz="7387">
                <a:solidFill>
                  <a:srgbClr val="031E40"/>
                </a:solidFill>
                <a:latin typeface="Almarai"/>
                <a:ea typeface="Almarai"/>
                <a:cs typeface="Almarai"/>
                <a:sym typeface="Almarai"/>
              </a:rPr>
              <a:t>0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61377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1994836" y="1185435"/>
            <a:ext cx="1943100" cy="161652"/>
            <a:chOff x="0" y="0"/>
            <a:chExt cx="511763" cy="425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5400000">
            <a:off x="1391927" y="653850"/>
            <a:ext cx="1224824" cy="122482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3493371" y="285186"/>
            <a:ext cx="13219017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ISSUE: FEATURE CATEGORICHE AD ALTA CARDINALTÀ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6216" y="796701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85560" y="2465810"/>
            <a:ext cx="9494885" cy="3242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5"/>
              </a:lnSpc>
            </a:pPr>
            <a:r>
              <a:rPr lang="en-US" sz="188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Il dataset conteneva oltre 30 produttori diversi (high cardinality), molti dei quali con pochissime osservazioni (es. Alcatel, Celkon).  Creare colonne separate permette al modello di assegnare un peso (coefficiente) indipendente e specifico per ogni produttore. Il modello può così apprendere che la presenza del valore 1 nella colonna brand Apple ha un impatto positivo sulla fascia di prezzo, mentre brand Wiko ne ha uno negativo o neutro, senza dover mediare tra loro.  I modelli di Machine Learning, come la Logistic Regression, operano su basi puramente algebriche e non possono elaborare dati testuali grezzi.</a:t>
            </a:r>
          </a:p>
          <a:p>
            <a:pPr algn="l">
              <a:lnSpc>
                <a:spcPts val="2605"/>
              </a:lnSpc>
            </a:pPr>
            <a:r>
              <a:rPr lang="en-US" sz="188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Non potevamo lasciare le variabili come stringhe perché l'algoritmo richiede input numerici per il calcolo dei coefficienti.</a:t>
            </a:r>
          </a:p>
          <a:p>
            <a:pPr algn="l">
              <a:lnSpc>
                <a:spcPts val="2605"/>
              </a:lnSpc>
              <a:spcBef>
                <a:spcPct val="0"/>
              </a:spcBef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9674288" y="7953940"/>
            <a:ext cx="2497707" cy="1720678"/>
            <a:chOff x="0" y="0"/>
            <a:chExt cx="3330276" cy="2294237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524648" y="1797951"/>
              <a:ext cx="2280980" cy="496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6"/>
                </a:lnSpc>
                <a:spcBef>
                  <a:spcPct val="0"/>
                </a:spcBef>
              </a:pPr>
              <a:r>
                <a:rPr lang="en-US" sz="2178">
                  <a:solidFill>
                    <a:srgbClr val="FFFFFF"/>
                  </a:solidFill>
                  <a:latin typeface="Almarai"/>
                  <a:ea typeface="Almarai"/>
                  <a:cs typeface="Almarai"/>
                  <a:sym typeface="Almarai"/>
                </a:rPr>
                <a:t>batteria (mAh)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0"/>
              <a:ext cx="3330276" cy="177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379"/>
                </a:lnSpc>
                <a:spcBef>
                  <a:spcPct val="0"/>
                </a:spcBef>
              </a:pPr>
              <a:r>
                <a:rPr lang="en-US" b="true" sz="8649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5000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116005" y="7953940"/>
            <a:ext cx="2497707" cy="1722517"/>
            <a:chOff x="0" y="0"/>
            <a:chExt cx="3330276" cy="2296689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770375" y="1797951"/>
              <a:ext cx="1841511" cy="498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06"/>
                </a:lnSpc>
                <a:spcBef>
                  <a:spcPct val="0"/>
                </a:spcBef>
              </a:pPr>
              <a:r>
                <a:rPr lang="en-US" sz="2178">
                  <a:solidFill>
                    <a:srgbClr val="FFFFFF"/>
                  </a:solidFill>
                  <a:latin typeface="Almarai"/>
                  <a:ea typeface="Almarai"/>
                  <a:cs typeface="Almarai"/>
                  <a:sym typeface="Almarai"/>
                </a:rPr>
                <a:t>Ram (gb)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0"/>
              <a:ext cx="3330276" cy="177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379"/>
                </a:lnSpc>
                <a:spcBef>
                  <a:spcPct val="0"/>
                </a:spcBef>
              </a:pPr>
              <a:r>
                <a:rPr lang="en-US" b="true" sz="8649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4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605172" y="7924800"/>
            <a:ext cx="2497707" cy="1333500"/>
            <a:chOff x="0" y="0"/>
            <a:chExt cx="3330276" cy="1778000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0"/>
              <a:ext cx="3330276" cy="177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379"/>
                </a:lnSpc>
                <a:spcBef>
                  <a:spcPct val="0"/>
                </a:spcBef>
              </a:pPr>
              <a:r>
                <a:rPr lang="en-US" b="true" sz="8649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=</a:t>
              </a:r>
            </a:p>
          </p:txBody>
        </p:sp>
        <p:sp>
          <p:nvSpPr>
            <p:cNvPr name="AutoShape 30" id="30"/>
            <p:cNvSpPr/>
            <p:nvPr/>
          </p:nvSpPr>
          <p:spPr>
            <a:xfrm flipV="true">
              <a:off x="1295877" y="621007"/>
              <a:ext cx="755893" cy="865841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5821309" y="6966585"/>
            <a:ext cx="6645383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73"/>
              </a:lnSpc>
              <a:spcBef>
                <a:spcPct val="0"/>
              </a:spcBef>
            </a:pPr>
            <a:r>
              <a:rPr lang="en-US" b="true" sz="6227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INOLTRE</a:t>
            </a:r>
          </a:p>
        </p:txBody>
      </p:sp>
    </p:spTree>
  </p:cSld>
  <p:clrMapOvr>
    <a:masterClrMapping/>
  </p:clrMapOvr>
  <p:transition spd="fast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254229" y="4297875"/>
            <a:ext cx="714813" cy="125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4"/>
              </a:lnSpc>
              <a:spcBef>
                <a:spcPct val="0"/>
              </a:spcBef>
            </a:pPr>
            <a:r>
              <a:rPr lang="en-US" sz="7387">
                <a:solidFill>
                  <a:srgbClr val="031E40"/>
                </a:solidFill>
                <a:latin typeface="Almarai"/>
                <a:ea typeface="Almarai"/>
                <a:cs typeface="Almarai"/>
                <a:sym typeface="Almarai"/>
              </a:rPr>
              <a:t>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93371" y="2275911"/>
            <a:ext cx="9014878" cy="74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91"/>
              </a:lnSpc>
              <a:spcBef>
                <a:spcPct val="0"/>
              </a:spcBef>
            </a:pPr>
            <a:r>
              <a:rPr lang="en-US" b="true" sz="4826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SOLUZIONE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61377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994836" y="1185435"/>
            <a:ext cx="1943100" cy="161652"/>
            <a:chOff x="0" y="0"/>
            <a:chExt cx="511763" cy="425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1391927" y="653850"/>
            <a:ext cx="1224824" cy="122482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110303" y="2989327"/>
            <a:ext cx="1867358" cy="186735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479475" y="2989327"/>
            <a:ext cx="1867358" cy="186735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885560" y="5231168"/>
            <a:ext cx="94516" cy="2130893"/>
            <a:chOff x="0" y="0"/>
            <a:chExt cx="24893" cy="56122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893" cy="561223"/>
            </a:xfrm>
            <a:custGeom>
              <a:avLst/>
              <a:gdLst/>
              <a:ahLst/>
              <a:cxnLst/>
              <a:rect r="r" b="b" t="t" l="l"/>
              <a:pathLst>
                <a:path h="561223" w="24893">
                  <a:moveTo>
                    <a:pt x="0" y="0"/>
                  </a:moveTo>
                  <a:lnTo>
                    <a:pt x="24893" y="0"/>
                  </a:lnTo>
                  <a:lnTo>
                    <a:pt x="24893" y="561223"/>
                  </a:lnTo>
                  <a:lnTo>
                    <a:pt x="0" y="561223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4893" cy="608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777573" y="5231168"/>
            <a:ext cx="94516" cy="2130893"/>
            <a:chOff x="0" y="0"/>
            <a:chExt cx="24893" cy="56122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893" cy="561223"/>
            </a:xfrm>
            <a:custGeom>
              <a:avLst/>
              <a:gdLst/>
              <a:ahLst/>
              <a:cxnLst/>
              <a:rect r="r" b="b" t="t" l="l"/>
              <a:pathLst>
                <a:path h="561223" w="24893">
                  <a:moveTo>
                    <a:pt x="0" y="0"/>
                  </a:moveTo>
                  <a:lnTo>
                    <a:pt x="24893" y="0"/>
                  </a:lnTo>
                  <a:lnTo>
                    <a:pt x="24893" y="561223"/>
                  </a:lnTo>
                  <a:lnTo>
                    <a:pt x="0" y="561223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24893" cy="608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4716526" y="3250444"/>
            <a:ext cx="1393256" cy="1345125"/>
          </a:xfrm>
          <a:custGeom>
            <a:avLst/>
            <a:gdLst/>
            <a:ahLst/>
            <a:cxnLst/>
            <a:rect r="r" b="b" t="t" l="l"/>
            <a:pathLst>
              <a:path h="1345125" w="1393256">
                <a:moveTo>
                  <a:pt x="0" y="0"/>
                </a:moveTo>
                <a:lnTo>
                  <a:pt x="1393256" y="0"/>
                </a:lnTo>
                <a:lnTo>
                  <a:pt x="1393256" y="1345125"/>
                </a:lnTo>
                <a:lnTo>
                  <a:pt x="0" y="13451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0375202" y="3024576"/>
            <a:ext cx="1337561" cy="1606242"/>
          </a:xfrm>
          <a:custGeom>
            <a:avLst/>
            <a:gdLst/>
            <a:ahLst/>
            <a:cxnLst/>
            <a:rect r="r" b="b" t="t" l="l"/>
            <a:pathLst>
              <a:path h="1606242" w="1337561">
                <a:moveTo>
                  <a:pt x="0" y="0"/>
                </a:moveTo>
                <a:lnTo>
                  <a:pt x="1337561" y="0"/>
                </a:lnTo>
                <a:lnTo>
                  <a:pt x="1337561" y="1606242"/>
                </a:lnTo>
                <a:lnTo>
                  <a:pt x="0" y="16062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3493371" y="285186"/>
            <a:ext cx="13219017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ISSUE: FEATURE CATEGORICHE AD ALTA CARDINALTÀ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76216" y="796701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284872" y="5841088"/>
            <a:ext cx="4916620" cy="152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7"/>
              </a:lnSpc>
              <a:spcBef>
                <a:spcPct val="0"/>
              </a:spcBef>
            </a:pPr>
            <a:r>
              <a:rPr lang="en-US" sz="2215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Successivamente è </a:t>
            </a:r>
            <a:r>
              <a:rPr lang="en-US" sz="2215" strike="noStrike" u="non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stato applicato il One-Hot Encoding, generando un numero fisso e gestibile di feature binarie.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389651" y="5902433"/>
            <a:ext cx="5229454" cy="152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7"/>
              </a:lnSpc>
              <a:spcBef>
                <a:spcPct val="0"/>
              </a:spcBef>
            </a:pPr>
            <a:r>
              <a:rPr lang="en-US" sz="2215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Tutti i brand n</a:t>
            </a:r>
            <a:r>
              <a:rPr lang="en-US" sz="2215" strike="noStrike" u="non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on presenti nella lista dei ”Top Market Share” (definiti nella configurazione del progetto) sono stati ricodificati sotto l’etichetta cumulativa ”Others”.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389651" y="5174018"/>
            <a:ext cx="4563412" cy="47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7"/>
              </a:lnSpc>
              <a:spcBef>
                <a:spcPct val="0"/>
              </a:spcBef>
            </a:pPr>
            <a:r>
              <a:rPr lang="en-US" b="true" sz="271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TOP MARKET SHARE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281664" y="5174018"/>
            <a:ext cx="4026849" cy="47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7"/>
              </a:lnSpc>
              <a:spcBef>
                <a:spcPct val="0"/>
              </a:spcBef>
            </a:pPr>
            <a:r>
              <a:rPr lang="en-US" b="true" sz="271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ONE  HOT ENCODING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3793924" y="5231168"/>
            <a:ext cx="94516" cy="2130893"/>
            <a:chOff x="0" y="0"/>
            <a:chExt cx="24893" cy="56122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893" cy="561223"/>
            </a:xfrm>
            <a:custGeom>
              <a:avLst/>
              <a:gdLst/>
              <a:ahLst/>
              <a:cxnLst/>
              <a:rect r="r" b="b" t="t" l="l"/>
              <a:pathLst>
                <a:path h="561223" w="24893">
                  <a:moveTo>
                    <a:pt x="0" y="0"/>
                  </a:moveTo>
                  <a:lnTo>
                    <a:pt x="24893" y="0"/>
                  </a:lnTo>
                  <a:lnTo>
                    <a:pt x="24893" y="561223"/>
                  </a:lnTo>
                  <a:lnTo>
                    <a:pt x="0" y="561223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24893" cy="608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4074455" y="5808894"/>
            <a:ext cx="4916620" cy="1139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7"/>
              </a:lnSpc>
            </a:pPr>
            <a:r>
              <a:rPr lang="en-US" sz="2215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Usiamo uno standard scaler per</a:t>
            </a:r>
          </a:p>
          <a:p>
            <a:pPr algn="l">
              <a:lnSpc>
                <a:spcPts val="3057"/>
              </a:lnSpc>
            </a:pPr>
            <a:r>
              <a:rPr lang="en-US" sz="2215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normalizzare tutte le feature</a:t>
            </a:r>
          </a:p>
          <a:p>
            <a:pPr algn="l" marL="0" indent="0" lvl="0">
              <a:lnSpc>
                <a:spcPts val="3057"/>
              </a:lnSpc>
              <a:spcBef>
                <a:spcPct val="0"/>
              </a:spcBef>
            </a:pPr>
            <a:r>
              <a:rPr lang="en-US" sz="2215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in un intervallo comprendibile.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071246" y="5141824"/>
            <a:ext cx="4026849" cy="47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7"/>
              </a:lnSpc>
              <a:spcBef>
                <a:spcPct val="0"/>
              </a:spcBef>
            </a:pPr>
            <a:r>
              <a:rPr lang="en-US" b="true" sz="271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STANDARD SCALER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4899885" y="2957133"/>
            <a:ext cx="1867358" cy="1867358"/>
            <a:chOff x="0" y="0"/>
            <a:chExt cx="2489811" cy="2489811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2489811" cy="2489811"/>
              <a:chOff x="0" y="0"/>
              <a:chExt cx="812800" cy="812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7E3B2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Freeform 49" id="49"/>
            <p:cNvSpPr/>
            <p:nvPr/>
          </p:nvSpPr>
          <p:spPr>
            <a:xfrm flipH="false" flipV="false" rot="0">
              <a:off x="213790" y="303989"/>
              <a:ext cx="2062230" cy="1713526"/>
            </a:xfrm>
            <a:custGeom>
              <a:avLst/>
              <a:gdLst/>
              <a:ahLst/>
              <a:cxnLst/>
              <a:rect r="r" b="b" t="t" l="l"/>
              <a:pathLst>
                <a:path h="1713526" w="2062230">
                  <a:moveTo>
                    <a:pt x="0" y="0"/>
                  </a:moveTo>
                  <a:lnTo>
                    <a:pt x="2062230" y="0"/>
                  </a:lnTo>
                  <a:lnTo>
                    <a:pt x="2062230" y="1713526"/>
                  </a:lnTo>
                  <a:lnTo>
                    <a:pt x="0" y="1713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254229" y="4297875"/>
            <a:ext cx="714813" cy="125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4"/>
              </a:lnSpc>
              <a:spcBef>
                <a:spcPct val="0"/>
              </a:spcBef>
            </a:pPr>
            <a:r>
              <a:rPr lang="en-US" sz="7387">
                <a:solidFill>
                  <a:srgbClr val="031E40"/>
                </a:solidFill>
                <a:latin typeface="Almarai"/>
                <a:ea typeface="Almarai"/>
                <a:cs typeface="Almarai"/>
                <a:sym typeface="Almarai"/>
              </a:rPr>
              <a:t>0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61377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1994836" y="1185435"/>
            <a:ext cx="1943100" cy="161652"/>
            <a:chOff x="0" y="0"/>
            <a:chExt cx="511763" cy="425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5400000">
            <a:off x="1391927" y="653850"/>
            <a:ext cx="1224824" cy="122482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3493371" y="285186"/>
            <a:ext cx="11163714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ISSUE: DATA DRIFT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6216" y="796701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05</a:t>
            </a:r>
          </a:p>
        </p:txBody>
      </p:sp>
      <p:sp>
        <p:nvSpPr>
          <p:cNvPr name="AutoShape 21" id="21"/>
          <p:cNvSpPr/>
          <p:nvPr/>
        </p:nvSpPr>
        <p:spPr>
          <a:xfrm>
            <a:off x="10151134" y="6122532"/>
            <a:ext cx="275041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2835934" y="5574845"/>
          <a:ext cx="7315200" cy="1057275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0572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release_year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Anno di uscita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Anno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23" id="23"/>
          <p:cNvSpPr/>
          <p:nvPr/>
        </p:nvSpPr>
        <p:spPr>
          <a:xfrm flipH="false" flipV="false" rot="0">
            <a:off x="12901548" y="4853064"/>
            <a:ext cx="1991520" cy="1986854"/>
          </a:xfrm>
          <a:custGeom>
            <a:avLst/>
            <a:gdLst/>
            <a:ahLst/>
            <a:cxnLst/>
            <a:rect r="r" b="b" t="t" l="l"/>
            <a:pathLst>
              <a:path h="1986854" w="1991520">
                <a:moveTo>
                  <a:pt x="0" y="0"/>
                </a:moveTo>
                <a:lnTo>
                  <a:pt x="1991521" y="0"/>
                </a:lnTo>
                <a:lnTo>
                  <a:pt x="1991521" y="1986854"/>
                </a:lnTo>
                <a:lnTo>
                  <a:pt x="0" y="19868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48583"/>
            </a:stretch>
          </a:blipFill>
          <a:ln w="38100" cap="rnd">
            <a:solidFill>
              <a:srgbClr val="145DA0"/>
            </a:solidFill>
            <a:prstDash val="solid"/>
            <a:round/>
          </a:ln>
        </p:spPr>
      </p:sp>
      <p:sp>
        <p:nvSpPr>
          <p:cNvPr name="TextBox 24" id="24"/>
          <p:cNvSpPr txBox="true"/>
          <p:nvPr/>
        </p:nvSpPr>
        <p:spPr>
          <a:xfrm rot="0">
            <a:off x="2885560" y="2465810"/>
            <a:ext cx="9494885" cy="976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5"/>
              </a:lnSpc>
              <a:spcBef>
                <a:spcPct val="0"/>
              </a:spcBef>
            </a:pPr>
            <a:r>
              <a:rPr lang="en-US" sz="188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Il dataset contiene la colonna release_year rappresentanta in anni, un anno per un modello di ML non è altro che un numero molto grande. inoltre la variabile che influenza il prezzo non è l'anno solare in sé, ma quanto è vecchio il telefono.</a:t>
            </a:r>
          </a:p>
        </p:txBody>
      </p:sp>
    </p:spTree>
  </p:cSld>
  <p:clrMapOvr>
    <a:masterClrMapping/>
  </p:clrMapOvr>
  <p:transition spd="fast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110013" y="4379198"/>
            <a:ext cx="667422" cy="117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9"/>
              </a:lnSpc>
              <a:spcBef>
                <a:spcPct val="0"/>
              </a:spcBef>
            </a:pPr>
            <a:r>
              <a:rPr lang="en-US" sz="6897">
                <a:solidFill>
                  <a:srgbClr val="031E40"/>
                </a:solidFill>
                <a:latin typeface="Almarai"/>
                <a:ea typeface="Almarai"/>
                <a:cs typeface="Almarai"/>
                <a:sym typeface="Almarai"/>
              </a:rPr>
              <a:t>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93371" y="1504341"/>
            <a:ext cx="9014878" cy="74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91"/>
              </a:lnSpc>
              <a:spcBef>
                <a:spcPct val="0"/>
              </a:spcBef>
            </a:pPr>
            <a:r>
              <a:rPr lang="en-US" b="true" sz="4826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SOLUZIONE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61377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994836" y="1185435"/>
            <a:ext cx="1943100" cy="161652"/>
            <a:chOff x="0" y="0"/>
            <a:chExt cx="511763" cy="425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1391927" y="653850"/>
            <a:ext cx="1224824" cy="122482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3493371" y="285186"/>
            <a:ext cx="11163714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ISSUE: DATA DRIFT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6216" y="796701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85560" y="2465810"/>
            <a:ext cx="9494885" cy="985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5"/>
              </a:lnSpc>
              <a:spcBef>
                <a:spcPct val="0"/>
              </a:spcBef>
            </a:pPr>
            <a:r>
              <a:rPr lang="en-US" sz="188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Il dataset contiene la colonna release_year rappresentanta in anni, un anno per un modello di ML non è altro che un numero molto grande. inoltre la variabile che influenza il prezzo non è l'anno solare in sé, ma </a:t>
            </a:r>
            <a:r>
              <a:rPr lang="en-US" b="true" sz="1887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quanto è vecchio il telefono</a:t>
            </a:r>
            <a:r>
              <a:rPr lang="en-US" sz="188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.</a:t>
            </a:r>
          </a:p>
        </p:txBody>
      </p:sp>
      <p:grpSp>
        <p:nvGrpSpPr>
          <p:cNvPr name="Group 23" id="23"/>
          <p:cNvGrpSpPr/>
          <p:nvPr/>
        </p:nvGrpSpPr>
        <p:grpSpPr>
          <a:xfrm rot="5400000">
            <a:off x="16605949" y="8402070"/>
            <a:ext cx="841991" cy="84199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AutoShape 25" id="25"/>
          <p:cNvSpPr/>
          <p:nvPr/>
        </p:nvSpPr>
        <p:spPr>
          <a:xfrm>
            <a:off x="9715775" y="5666725"/>
            <a:ext cx="435329" cy="214737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aphicFrame>
        <p:nvGraphicFramePr>
          <p:cNvPr name="Table 26" id="26"/>
          <p:cNvGraphicFramePr>
            <a:graphicFrameLocks noGrp="true"/>
          </p:cNvGraphicFramePr>
          <p:nvPr/>
        </p:nvGraphicFramePr>
        <p:xfrm>
          <a:off x="2885560" y="5155348"/>
          <a:ext cx="6830215" cy="987179"/>
        </p:xfrm>
        <a:graphic>
          <a:graphicData uri="http://schemas.openxmlformats.org/drawingml/2006/table">
            <a:tbl>
              <a:tblPr/>
              <a:tblGrid>
                <a:gridCol w="2276738"/>
                <a:gridCol w="2276738"/>
                <a:gridCol w="2276738"/>
              </a:tblGrid>
              <a:tr h="98717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67"/>
                        </a:lnSpc>
                        <a:defRPr/>
                      </a:pPr>
                      <a:r>
                        <a:rPr lang="en-US" sz="1762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release_year</a:t>
                      </a:r>
                      <a:endParaRPr lang="en-US" sz="1100"/>
                    </a:p>
                  </a:txBody>
                  <a:tcPr marL="177870" marR="177870" marT="177870" marB="177870" anchor="ctr">
                    <a:lnL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67"/>
                        </a:lnSpc>
                        <a:defRPr/>
                      </a:pPr>
                      <a:r>
                        <a:rPr lang="en-US" sz="1762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Anno di uscita</a:t>
                      </a:r>
                      <a:endParaRPr lang="en-US" sz="1100"/>
                    </a:p>
                  </a:txBody>
                  <a:tcPr marL="177870" marR="177870" marT="177870" marB="177870" anchor="ctr">
                    <a:lnL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67"/>
                        </a:lnSpc>
                        <a:defRPr/>
                      </a:pPr>
                      <a:r>
                        <a:rPr lang="en-US" sz="1762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Anno</a:t>
                      </a:r>
                      <a:endParaRPr lang="en-US" sz="1100"/>
                    </a:p>
                  </a:txBody>
                  <a:tcPr marL="177870" marR="177870" marT="177870" marB="177870" anchor="ctr">
                    <a:lnL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27" id="27"/>
          <p:cNvGraphicFramePr>
            <a:graphicFrameLocks noGrp="true"/>
          </p:cNvGraphicFramePr>
          <p:nvPr/>
        </p:nvGraphicFramePr>
        <p:xfrm>
          <a:off x="10151103" y="7320515"/>
          <a:ext cx="6716757" cy="987179"/>
        </p:xfrm>
        <a:graphic>
          <a:graphicData uri="http://schemas.openxmlformats.org/drawingml/2006/table">
            <a:tbl>
              <a:tblPr/>
              <a:tblGrid>
                <a:gridCol w="2276940"/>
                <a:gridCol w="2276940"/>
                <a:gridCol w="2162877"/>
              </a:tblGrid>
              <a:tr h="98717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67"/>
                        </a:lnSpc>
                        <a:defRPr/>
                      </a:pPr>
                      <a:r>
                        <a:rPr lang="en-US" sz="1762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model_age</a:t>
                      </a:r>
                      <a:endParaRPr lang="en-US" sz="1100"/>
                    </a:p>
                  </a:txBody>
                  <a:tcPr marL="177870" marR="177870" marT="177870" marB="177870" anchor="ctr">
                    <a:lnL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67"/>
                        </a:lnSpc>
                        <a:defRPr/>
                      </a:pPr>
                      <a:r>
                        <a:rPr lang="en-US" sz="1762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età del modello</a:t>
                      </a:r>
                      <a:endParaRPr lang="en-US" sz="1100"/>
                    </a:p>
                  </a:txBody>
                  <a:tcPr marL="177870" marR="177870" marT="177870" marB="177870" anchor="ctr">
                    <a:lnL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67"/>
                        </a:lnSpc>
                        <a:defRPr/>
                      </a:pPr>
                      <a:r>
                        <a:rPr lang="en-US" sz="1762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2020-release_year</a:t>
                      </a:r>
                      <a:endParaRPr lang="en-US" sz="1100"/>
                    </a:p>
                  </a:txBody>
                  <a:tcPr marL="177870" marR="177870" marT="177870" marB="177870" anchor="ctr">
                    <a:lnL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493371" y="1504341"/>
            <a:ext cx="9014878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91"/>
              </a:lnSpc>
              <a:spcBef>
                <a:spcPct val="0"/>
              </a:spcBef>
            </a:pPr>
            <a:r>
              <a:rPr lang="en-US" b="true" sz="4826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LIMITAZIONE RICONOSCIUTA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61377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1994836" y="1185435"/>
            <a:ext cx="1943100" cy="161652"/>
            <a:chOff x="0" y="0"/>
            <a:chExt cx="511763" cy="425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5400000">
            <a:off x="1391927" y="653850"/>
            <a:ext cx="1224824" cy="122482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3493371" y="285186"/>
            <a:ext cx="11163714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ISSUE: DATA DRIFT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6216" y="796701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85560" y="2465810"/>
            <a:ext cx="9494885" cy="976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5"/>
              </a:lnSpc>
              <a:spcBef>
                <a:spcPct val="0"/>
              </a:spcBef>
            </a:pPr>
            <a:r>
              <a:rPr lang="en-US" sz="188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Tale soluzione è parziale, specifiche di dispositivi 2021+ potrebbero portare il modello a sottostimarne i prezzi. Il modello potrebbe inoltre trattare dispositivi TOP del 2020 come TOP di gamma </a:t>
            </a:r>
            <a:r>
              <a:rPr lang="en-US" sz="188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att</a:t>
            </a:r>
            <a:r>
              <a:rPr lang="en-US" sz="188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ua</a:t>
            </a:r>
            <a:r>
              <a:rPr lang="en-US" sz="188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l</a:t>
            </a:r>
            <a:r>
              <a:rPr lang="en-US" sz="188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i</a:t>
            </a:r>
          </a:p>
        </p:txBody>
      </p:sp>
      <p:grpSp>
        <p:nvGrpSpPr>
          <p:cNvPr name="Group 22" id="22"/>
          <p:cNvGrpSpPr/>
          <p:nvPr/>
        </p:nvGrpSpPr>
        <p:grpSpPr>
          <a:xfrm rot="5400000">
            <a:off x="16605949" y="8402070"/>
            <a:ext cx="841991" cy="841991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16575" y="-1489570"/>
            <a:ext cx="4202211" cy="6003158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16605949" y="8402070"/>
            <a:ext cx="841991" cy="84199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543681" y="1640457"/>
            <a:ext cx="4904260" cy="7006086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solidFill>
              <a:srgbClr val="0A326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-10800000">
            <a:off x="16605949" y="1202778"/>
            <a:ext cx="5246522" cy="7495031"/>
            <a:chOff x="0" y="0"/>
            <a:chExt cx="4445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1144411" y="1337805"/>
            <a:ext cx="1224824" cy="122482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3454864" y="3730831"/>
            <a:ext cx="3081894" cy="3081894"/>
          </a:xfrm>
          <a:custGeom>
            <a:avLst/>
            <a:gdLst/>
            <a:ahLst/>
            <a:cxnLst/>
            <a:rect r="r" b="b" t="t" l="l"/>
            <a:pathLst>
              <a:path h="3081894" w="3081894">
                <a:moveTo>
                  <a:pt x="0" y="0"/>
                </a:moveTo>
                <a:lnTo>
                  <a:pt x="3081894" y="0"/>
                </a:lnTo>
                <a:lnTo>
                  <a:pt x="3081894" y="3081894"/>
                </a:lnTo>
                <a:lnTo>
                  <a:pt x="0" y="30818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85725" cap="rnd">
            <a:solidFill>
              <a:srgbClr val="145DA0"/>
            </a:solidFill>
            <a:prstDash val="solid"/>
            <a:round/>
          </a:ln>
        </p:spPr>
      </p:sp>
      <p:sp>
        <p:nvSpPr>
          <p:cNvPr name="TextBox 15" id="15"/>
          <p:cNvSpPr txBox="true"/>
          <p:nvPr/>
        </p:nvSpPr>
        <p:spPr>
          <a:xfrm rot="0">
            <a:off x="2766869" y="1477050"/>
            <a:ext cx="6645383" cy="961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73"/>
              </a:lnSpc>
              <a:spcBef>
                <a:spcPct val="0"/>
              </a:spcBef>
            </a:pPr>
            <a:r>
              <a:rPr lang="en-US" b="true" sz="6227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RACCOLTA DATI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1480657"/>
            <a:ext cx="1456246" cy="85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78154" y="2273941"/>
            <a:ext cx="6138901" cy="38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6"/>
              </a:lnSpc>
              <a:spcBef>
                <a:spcPct val="0"/>
              </a:spcBef>
            </a:pPr>
            <a:r>
              <a:rPr lang="en-US" sz="217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Fonte: </a:t>
            </a:r>
            <a:r>
              <a:rPr lang="en-US" sz="2178">
                <a:solidFill>
                  <a:srgbClr val="20BEFF"/>
                </a:solidFill>
                <a:latin typeface="Almarai"/>
                <a:ea typeface="Almarai"/>
                <a:cs typeface="Almarai"/>
                <a:sym typeface="Almarai"/>
              </a:rPr>
              <a:t>kaggle</a:t>
            </a:r>
            <a:r>
              <a:rPr lang="en-US" sz="217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454836" y="5395154"/>
            <a:ext cx="8785537" cy="1722657"/>
            <a:chOff x="0" y="0"/>
            <a:chExt cx="11714049" cy="2296875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5919498" y="1800589"/>
              <a:ext cx="969727" cy="496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6"/>
                </a:lnSpc>
                <a:spcBef>
                  <a:spcPct val="0"/>
                </a:spcBef>
              </a:pPr>
              <a:r>
                <a:rPr lang="en-US" sz="2178">
                  <a:solidFill>
                    <a:srgbClr val="FFFFFF"/>
                  </a:solidFill>
                  <a:latin typeface="Almarai"/>
                  <a:ea typeface="Almarai"/>
                  <a:cs typeface="Almarai"/>
                  <a:sym typeface="Almarai"/>
                </a:rPr>
                <a:t>Righe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985262" y="2638"/>
              <a:ext cx="3499362" cy="1780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379"/>
                </a:lnSpc>
                <a:spcBef>
                  <a:spcPct val="0"/>
                </a:spcBef>
              </a:pPr>
              <a:r>
                <a:rPr lang="en-US" b="true" sz="8649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3454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0061764" y="1800589"/>
              <a:ext cx="1652285" cy="496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6"/>
                </a:lnSpc>
                <a:spcBef>
                  <a:spcPct val="0"/>
                </a:spcBef>
              </a:pPr>
              <a:r>
                <a:rPr lang="en-US" sz="2178">
                  <a:solidFill>
                    <a:srgbClr val="FFFFFF"/>
                  </a:solidFill>
                  <a:latin typeface="Almarai"/>
                  <a:ea typeface="Almarai"/>
                  <a:cs typeface="Almarai"/>
                  <a:sym typeface="Almarai"/>
                </a:rPr>
                <a:t>Colonne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9975398" y="0"/>
              <a:ext cx="1515800" cy="177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379"/>
                </a:lnSpc>
                <a:spcBef>
                  <a:spcPct val="0"/>
                </a:spcBef>
              </a:pPr>
              <a:r>
                <a:rPr lang="en-US" b="true" sz="8649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15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809489" y="1800589"/>
              <a:ext cx="1935009" cy="496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6"/>
                </a:lnSpc>
                <a:spcBef>
                  <a:spcPct val="0"/>
                </a:spcBef>
              </a:pPr>
              <a:r>
                <a:rPr lang="en-US" sz="2178">
                  <a:solidFill>
                    <a:srgbClr val="FFFFFF"/>
                  </a:solidFill>
                  <a:latin typeface="Almarai"/>
                  <a:ea typeface="Almarai"/>
                  <a:cs typeface="Almarai"/>
                  <a:sym typeface="Almarai"/>
                </a:rPr>
                <a:t>Downloads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2638"/>
              <a:ext cx="3499362" cy="1783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379"/>
                </a:lnSpc>
                <a:spcBef>
                  <a:spcPct val="0"/>
                </a:spcBef>
              </a:pPr>
              <a:r>
                <a:rPr lang="en-US" b="true" sz="8649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5K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9002853" y="5395154"/>
            <a:ext cx="1013723" cy="1270040"/>
          </a:xfrm>
          <a:custGeom>
            <a:avLst/>
            <a:gdLst/>
            <a:ahLst/>
            <a:cxnLst/>
            <a:rect r="r" b="b" t="t" l="l"/>
            <a:pathLst>
              <a:path h="1270040" w="1013723">
                <a:moveTo>
                  <a:pt x="0" y="0"/>
                </a:moveTo>
                <a:lnTo>
                  <a:pt x="1013722" y="0"/>
                </a:lnTo>
                <a:lnTo>
                  <a:pt x="1013722" y="1270039"/>
                </a:lnTo>
                <a:lnTo>
                  <a:pt x="0" y="127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225698" y="4504063"/>
            <a:ext cx="8014675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13"/>
              </a:lnSpc>
              <a:spcBef>
                <a:spcPct val="0"/>
              </a:spcBef>
            </a:pPr>
            <a:r>
              <a:rPr lang="en-US" b="true" sz="4928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USED_DEVICE_DATA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081008" y="6755575"/>
            <a:ext cx="1829606" cy="38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6"/>
              </a:lnSpc>
              <a:spcBef>
                <a:spcPct val="0"/>
              </a:spcBef>
            </a:pPr>
            <a:r>
              <a:rPr lang="en-US" sz="217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Link al dataset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852156" y="7143916"/>
            <a:ext cx="1315116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379"/>
              </a:lnSpc>
              <a:spcBef>
                <a:spcPct val="0"/>
              </a:spcBef>
            </a:pPr>
            <a:r>
              <a:rPr lang="en-US" b="true" sz="8649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47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5726175" y="5426884"/>
            <a:ext cx="1013723" cy="1270040"/>
          </a:xfrm>
          <a:custGeom>
            <a:avLst/>
            <a:gdLst/>
            <a:ahLst/>
            <a:cxnLst/>
            <a:rect r="r" b="b" t="t" l="l"/>
            <a:pathLst>
              <a:path h="1270040" w="1013723">
                <a:moveTo>
                  <a:pt x="0" y="0"/>
                </a:moveTo>
                <a:lnTo>
                  <a:pt x="1013722" y="0"/>
                </a:lnTo>
                <a:lnTo>
                  <a:pt x="1013722" y="1270039"/>
                </a:lnTo>
                <a:lnTo>
                  <a:pt x="0" y="127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5188889" y="7061482"/>
            <a:ext cx="2624522" cy="134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79"/>
              </a:lnSpc>
              <a:spcBef>
                <a:spcPct val="0"/>
              </a:spcBef>
            </a:pPr>
            <a:r>
              <a:rPr lang="en-US" b="true" sz="8649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3183</a:t>
            </a:r>
          </a:p>
        </p:txBody>
      </p:sp>
    </p:spTree>
  </p:cSld>
  <p:clrMapOvr>
    <a:masterClrMapping/>
  </p:clrMapOvr>
  <p:transition spd="fast">
    <p:cover dir="d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11465621" y="1708206"/>
            <a:ext cx="1334733" cy="133473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11465621" y="4324131"/>
            <a:ext cx="1334733" cy="133473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4269007" y="1708206"/>
            <a:ext cx="1334733" cy="133473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8781438" y="1708206"/>
            <a:ext cx="1334733" cy="133473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8781438" y="4324131"/>
            <a:ext cx="1334733" cy="133473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4120281" y="1600682"/>
            <a:ext cx="1632185" cy="1442258"/>
          </a:xfrm>
          <a:custGeom>
            <a:avLst/>
            <a:gdLst/>
            <a:ahLst/>
            <a:cxnLst/>
            <a:rect r="r" b="b" t="t" l="l"/>
            <a:pathLst>
              <a:path h="1442258" w="1632185">
                <a:moveTo>
                  <a:pt x="0" y="0"/>
                </a:moveTo>
                <a:lnTo>
                  <a:pt x="1632185" y="0"/>
                </a:lnTo>
                <a:lnTo>
                  <a:pt x="1632185" y="1442258"/>
                </a:lnTo>
                <a:lnTo>
                  <a:pt x="0" y="14422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10800000">
            <a:off x="1028700" y="1028700"/>
            <a:ext cx="5760720" cy="8229600"/>
            <a:chOff x="0" y="0"/>
            <a:chExt cx="4445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-1080000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0"/>
                  </a:move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lose/>
                </a:path>
              </a:pathLst>
            </a:custGeom>
            <a:blipFill>
              <a:blip r:embed="rId5">
                <a:alphaModFix amt="39000"/>
              </a:blip>
              <a:stretch>
                <a:fillRect l="0" t="-2532" r="0" b="-253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35340" y="1038186"/>
            <a:ext cx="5754080" cy="8220114"/>
            <a:chOff x="0" y="0"/>
            <a:chExt cx="4445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585595" y="3504645"/>
            <a:ext cx="4646929" cy="296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2"/>
              </a:lnSpc>
            </a:pPr>
            <a:r>
              <a:rPr lang="en-US" sz="6335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OVERVIEW</a:t>
            </a:r>
          </a:p>
          <a:p>
            <a:pPr algn="ctr" marL="0" indent="0" lvl="0">
              <a:lnSpc>
                <a:spcPts val="7602"/>
              </a:lnSpc>
              <a:spcBef>
                <a:spcPct val="0"/>
              </a:spcBef>
            </a:pPr>
            <a:r>
              <a:rPr lang="en-US" b="true" sz="633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DEL PROCESSO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43432" y="3241841"/>
            <a:ext cx="2176471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Analisi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Dati e Issue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38206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38206" y="4478824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28937" y="3241841"/>
            <a:ext cx="2176471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Modelli e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Training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23711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60569" y="3241841"/>
            <a:ext cx="2176471" cy="880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Raccolta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Dati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655343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64418" y="5772028"/>
            <a:ext cx="2568772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Analisi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Prestazioni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38597" y="5820789"/>
            <a:ext cx="2599706" cy="1304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Considerazioni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Finali</a:t>
            </a:r>
          </a:p>
          <a:p>
            <a:pPr algn="ctr">
              <a:lnSpc>
                <a:spcPts val="3481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8655343" y="4478824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</p:spTree>
  </p:cSld>
  <p:clrMapOvr>
    <a:masterClrMapping/>
  </p:clrMapOvr>
  <p:transition spd="fast">
    <p:cover dir="d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39962" y="0"/>
            <a:ext cx="7569105" cy="7868257"/>
            <a:chOff x="0" y="0"/>
            <a:chExt cx="6108573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2"/>
              <a:stretch>
                <a:fillRect l="0" t="-16804" r="0" b="-16804"/>
              </a:stretch>
            </a:blipFill>
          </p:spPr>
        </p:sp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698994" y="3851924"/>
            <a:ext cx="3567648" cy="860143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698994" y="7378387"/>
            <a:ext cx="3567648" cy="860143"/>
          </a:xfrm>
          <a:prstGeom prst="rect">
            <a:avLst/>
          </a:prstGeom>
        </p:spPr>
      </p:pic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439962" y="1452185"/>
            <a:ext cx="7569105" cy="7868257"/>
            <a:chOff x="0" y="0"/>
            <a:chExt cx="6108573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5"/>
              <a:stretch>
                <a:fillRect l="-133175" t="0" r="-13317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5"/>
              <a:stretch>
                <a:fillRect l="-201730" t="0" r="-20173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2752558" y="1699215"/>
            <a:ext cx="94516" cy="7607037"/>
            <a:chOff x="0" y="0"/>
            <a:chExt cx="24893" cy="20034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893" cy="2003499"/>
            </a:xfrm>
            <a:custGeom>
              <a:avLst/>
              <a:gdLst/>
              <a:ahLst/>
              <a:cxnLst/>
              <a:rect r="r" b="b" t="t" l="l"/>
              <a:pathLst>
                <a:path h="2003499" w="24893">
                  <a:moveTo>
                    <a:pt x="0" y="0"/>
                  </a:moveTo>
                  <a:lnTo>
                    <a:pt x="24893" y="0"/>
                  </a:lnTo>
                  <a:lnTo>
                    <a:pt x="24893" y="2003499"/>
                  </a:lnTo>
                  <a:lnTo>
                    <a:pt x="0" y="2003499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4893" cy="2051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5400000">
            <a:off x="15627413" y="4528979"/>
            <a:ext cx="295449" cy="1961194"/>
            <a:chOff x="0" y="0"/>
            <a:chExt cx="77814" cy="5165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7814" cy="516528"/>
            </a:xfrm>
            <a:custGeom>
              <a:avLst/>
              <a:gdLst/>
              <a:ahLst/>
              <a:cxnLst/>
              <a:rect r="r" b="b" t="t" l="l"/>
              <a:pathLst>
                <a:path h="516528" w="77814">
                  <a:moveTo>
                    <a:pt x="0" y="0"/>
                  </a:moveTo>
                  <a:lnTo>
                    <a:pt x="77814" y="0"/>
                  </a:lnTo>
                  <a:lnTo>
                    <a:pt x="77814" y="516528"/>
                  </a:lnTo>
                  <a:lnTo>
                    <a:pt x="0" y="516528"/>
                  </a:lnTo>
                  <a:close/>
                </a:path>
              </a:pathLst>
            </a:custGeom>
            <a:solidFill>
              <a:srgbClr val="17E3B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77814" cy="5641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5400000">
            <a:off x="8907960" y="1339835"/>
            <a:ext cx="1224824" cy="122482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126211" t="0" r="-126211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234968" y="3104492"/>
            <a:ext cx="3806270" cy="1044735"/>
            <a:chOff x="0" y="0"/>
            <a:chExt cx="4445000" cy="12200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45000" cy="1220052"/>
            </a:xfrm>
            <a:custGeom>
              <a:avLst/>
              <a:gdLst/>
              <a:ahLst/>
              <a:cxnLst/>
              <a:rect r="r" b="b" t="t" l="l"/>
              <a:pathLst>
                <a:path h="1220052" w="4445000">
                  <a:moveTo>
                    <a:pt x="2222500" y="1220052"/>
                  </a:moveTo>
                  <a:cubicBezTo>
                    <a:pt x="995680" y="1220052"/>
                    <a:pt x="0" y="1028748"/>
                    <a:pt x="0" y="793034"/>
                  </a:cubicBezTo>
                  <a:lnTo>
                    <a:pt x="0" y="427018"/>
                  </a:lnTo>
                  <a:cubicBezTo>
                    <a:pt x="0" y="191304"/>
                    <a:pt x="995680" y="0"/>
                    <a:pt x="2222500" y="0"/>
                  </a:cubicBezTo>
                  <a:cubicBezTo>
                    <a:pt x="3449320" y="0"/>
                    <a:pt x="4445000" y="191304"/>
                    <a:pt x="4445000" y="427018"/>
                  </a:cubicBezTo>
                  <a:lnTo>
                    <a:pt x="4445000" y="793034"/>
                  </a:lnTo>
                  <a:cubicBezTo>
                    <a:pt x="4445000" y="1028748"/>
                    <a:pt x="3449320" y="1220052"/>
                    <a:pt x="2222500" y="1220052"/>
                  </a:cubicBezTo>
                  <a:close/>
                </a:path>
              </a:pathLst>
            </a:custGeom>
            <a:blipFill>
              <a:blip r:embed="rId5"/>
              <a:stretch>
                <a:fillRect l="0" t="-1689" r="0" b="-1689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234968" y="6176943"/>
            <a:ext cx="3806270" cy="1044735"/>
            <a:chOff x="0" y="0"/>
            <a:chExt cx="4445000" cy="12200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45000" cy="1220052"/>
            </a:xfrm>
            <a:custGeom>
              <a:avLst/>
              <a:gdLst/>
              <a:ahLst/>
              <a:cxnLst/>
              <a:rect r="r" b="b" t="t" l="l"/>
              <a:pathLst>
                <a:path h="1220052" w="4445000">
                  <a:moveTo>
                    <a:pt x="2222500" y="1220052"/>
                  </a:moveTo>
                  <a:cubicBezTo>
                    <a:pt x="995680" y="1220052"/>
                    <a:pt x="0" y="1028748"/>
                    <a:pt x="0" y="793034"/>
                  </a:cubicBezTo>
                  <a:lnTo>
                    <a:pt x="0" y="427018"/>
                  </a:lnTo>
                  <a:cubicBezTo>
                    <a:pt x="0" y="191304"/>
                    <a:pt x="995680" y="0"/>
                    <a:pt x="2222500" y="0"/>
                  </a:cubicBezTo>
                  <a:cubicBezTo>
                    <a:pt x="3449320" y="0"/>
                    <a:pt x="4445000" y="191304"/>
                    <a:pt x="4445000" y="427018"/>
                  </a:cubicBezTo>
                  <a:lnTo>
                    <a:pt x="4445000" y="793034"/>
                  </a:lnTo>
                  <a:cubicBezTo>
                    <a:pt x="4445000" y="1028748"/>
                    <a:pt x="3449320" y="1220052"/>
                    <a:pt x="2222500" y="1220052"/>
                  </a:cubicBezTo>
                  <a:close/>
                </a:path>
              </a:pathLst>
            </a:custGeom>
            <a:blipFill>
              <a:blip r:embed="rId5"/>
              <a:stretch>
                <a:fillRect l="0" t="-1689" r="0" b="-1689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085415" y="2802873"/>
            <a:ext cx="2794805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99"/>
              </a:lnSpc>
              <a:spcBef>
                <a:spcPct val="0"/>
              </a:spcBef>
            </a:pPr>
            <a:r>
              <a:rPr lang="en-US" b="true" sz="8499" strike="noStrike" u="non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80%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96298" y="6167418"/>
            <a:ext cx="323867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99"/>
              </a:lnSpc>
              <a:spcBef>
                <a:spcPct val="0"/>
              </a:spcBef>
            </a:pPr>
            <a:r>
              <a:rPr lang="en-US" b="true" sz="8499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20</a:t>
            </a:r>
            <a:r>
              <a:rPr lang="en-US" b="true" sz="8499" strike="noStrike" u="non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82818" y="1442660"/>
            <a:ext cx="677648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84"/>
              </a:lnSpc>
              <a:spcBef>
                <a:spcPct val="0"/>
              </a:spcBef>
            </a:pPr>
            <a:r>
              <a:rPr lang="en-US" b="true" sz="657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DATASET SPLIT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92249" y="1482687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477484" y="3262028"/>
            <a:ext cx="4400018" cy="655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07"/>
              </a:lnSpc>
              <a:spcBef>
                <a:spcPct val="0"/>
              </a:spcBef>
            </a:pPr>
            <a:r>
              <a:rPr lang="en-US" b="true" sz="384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TRAINING SET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969338" y="6447876"/>
            <a:ext cx="4400018" cy="655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07"/>
              </a:lnSpc>
              <a:spcBef>
                <a:spcPct val="0"/>
              </a:spcBef>
            </a:pPr>
            <a:r>
              <a:rPr lang="en-US" b="true" sz="384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TEST SET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99816" y="2295343"/>
            <a:ext cx="1636091" cy="373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9"/>
              </a:lnSpc>
              <a:spcBef>
                <a:spcPct val="0"/>
              </a:spcBef>
            </a:pPr>
            <a:r>
              <a:rPr lang="en-US" b="true" sz="216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STRATIFIED</a:t>
            </a:r>
          </a:p>
        </p:txBody>
      </p:sp>
    </p:spTree>
  </p:cSld>
  <p:clrMapOvr>
    <a:masterClrMapping/>
  </p:clrMapOvr>
  <p:transition spd="fast">
    <p:push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05391" y="-56898"/>
            <a:ext cx="12010783" cy="10400796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4976691" y="-56898"/>
            <a:ext cx="12010783" cy="10400796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8513348" y="1676216"/>
            <a:ext cx="518653" cy="403322"/>
            <a:chOff x="0" y="0"/>
            <a:chExt cx="812800" cy="6320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8513348" y="3312446"/>
            <a:ext cx="518653" cy="403322"/>
            <a:chOff x="0" y="0"/>
            <a:chExt cx="812800" cy="6320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8513348" y="4941839"/>
            <a:ext cx="518653" cy="403322"/>
            <a:chOff x="0" y="0"/>
            <a:chExt cx="812800" cy="6320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8513348" y="6593231"/>
            <a:ext cx="518653" cy="403322"/>
            <a:chOff x="0" y="0"/>
            <a:chExt cx="812800" cy="6320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78059" y="3920409"/>
            <a:ext cx="2446183" cy="244618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200025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-10800000">
            <a:off x="-4533696" y="169116"/>
            <a:ext cx="5754080" cy="8220114"/>
            <a:chOff x="0" y="0"/>
            <a:chExt cx="4445000" cy="635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5849774" y="4292124"/>
            <a:ext cx="1702752" cy="1702752"/>
          </a:xfrm>
          <a:custGeom>
            <a:avLst/>
            <a:gdLst/>
            <a:ahLst/>
            <a:cxnLst/>
            <a:rect r="r" b="b" t="t" l="l"/>
            <a:pathLst>
              <a:path h="1702752" w="1702752">
                <a:moveTo>
                  <a:pt x="0" y="0"/>
                </a:moveTo>
                <a:lnTo>
                  <a:pt x="1702752" y="0"/>
                </a:lnTo>
                <a:lnTo>
                  <a:pt x="1702752" y="1702752"/>
                </a:lnTo>
                <a:lnTo>
                  <a:pt x="0" y="17027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288463" y="3188105"/>
            <a:ext cx="2492805" cy="109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68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RANDOM</a:t>
            </a:r>
          </a:p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FOREST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88463" y="1542718"/>
            <a:ext cx="2702529" cy="109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68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LOGISTIC</a:t>
            </a:r>
          </a:p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REGRESSION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86803" y="4808341"/>
            <a:ext cx="2492805" cy="109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68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RANDOM</a:t>
            </a:r>
          </a:p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FOREST TN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288463" y="6459734"/>
            <a:ext cx="2492805" cy="109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68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GRADIENT</a:t>
            </a:r>
          </a:p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BOOSTING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990993" y="2108629"/>
            <a:ext cx="4490889" cy="30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55"/>
              </a:lnSpc>
            </a:pPr>
            <a:r>
              <a:rPr lang="en-US" sz="186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C</a:t>
            </a:r>
            <a:r>
              <a:rPr lang="en-US" sz="1869" strike="noStrike" u="non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lassificazione Lineare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990993" y="3610803"/>
            <a:ext cx="4490889" cy="30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55"/>
              </a:lnSpc>
            </a:pPr>
            <a:r>
              <a:rPr lang="en-US" sz="186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E</a:t>
            </a:r>
            <a:r>
              <a:rPr lang="en-US" sz="1869" strike="noStrike" u="non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nsemble di alberi decisionali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990993" y="5086099"/>
            <a:ext cx="4679641" cy="30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55"/>
              </a:lnSpc>
            </a:pPr>
            <a:r>
              <a:rPr lang="en-US" sz="186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Random forest ottimizzato con GridSearchCV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990993" y="6744614"/>
            <a:ext cx="4490889" cy="30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55"/>
              </a:lnSpc>
            </a:pPr>
            <a:r>
              <a:rPr lang="en-US" sz="186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B</a:t>
            </a:r>
            <a:r>
              <a:rPr lang="en-US" sz="1869" strike="noStrike" u="non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oosting Sequenziale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98452" y="4733014"/>
            <a:ext cx="6358116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4"/>
              </a:lnSpc>
            </a:pPr>
            <a:r>
              <a:rPr lang="en-US" sz="657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MODELLI</a:t>
            </a:r>
          </a:p>
          <a:p>
            <a:pPr algn="l" marL="0" indent="0" lvl="0">
              <a:lnSpc>
                <a:spcPts val="7284"/>
              </a:lnSpc>
              <a:spcBef>
                <a:spcPct val="0"/>
              </a:spcBef>
            </a:pPr>
            <a:r>
              <a:rPr lang="en-US" b="true" sz="607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CONFRONTATI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499096" y="4613945"/>
            <a:ext cx="3086100" cy="1471219"/>
            <a:chOff x="0" y="0"/>
            <a:chExt cx="812800" cy="38748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387482"/>
            </a:xfrm>
            <a:custGeom>
              <a:avLst/>
              <a:gdLst/>
              <a:ahLst/>
              <a:cxnLst/>
              <a:rect r="r" b="b" t="t" l="l"/>
              <a:pathLst>
                <a:path h="38748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87482"/>
                  </a:lnTo>
                  <a:lnTo>
                    <a:pt x="0" y="387482"/>
                  </a:lnTo>
                  <a:close/>
                </a:path>
              </a:pathLst>
            </a:custGeom>
            <a:ln w="38100" cap="sq">
              <a:solidFill>
                <a:srgbClr val="17E3B2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812800" cy="435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11465621" y="1708206"/>
            <a:ext cx="1334733" cy="133473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11465621" y="4324131"/>
            <a:ext cx="1334733" cy="133473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4269007" y="1708206"/>
            <a:ext cx="1334733" cy="133473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8781438" y="1708206"/>
            <a:ext cx="1334733" cy="133473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8781438" y="4324131"/>
            <a:ext cx="1334733" cy="133473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8632712" y="4216606"/>
            <a:ext cx="1632185" cy="1442258"/>
          </a:xfrm>
          <a:custGeom>
            <a:avLst/>
            <a:gdLst/>
            <a:ahLst/>
            <a:cxnLst/>
            <a:rect r="r" b="b" t="t" l="l"/>
            <a:pathLst>
              <a:path h="1442258" w="1632185">
                <a:moveTo>
                  <a:pt x="0" y="0"/>
                </a:moveTo>
                <a:lnTo>
                  <a:pt x="1632185" y="0"/>
                </a:lnTo>
                <a:lnTo>
                  <a:pt x="1632185" y="1442258"/>
                </a:lnTo>
                <a:lnTo>
                  <a:pt x="0" y="14422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10800000">
            <a:off x="1028700" y="1028700"/>
            <a:ext cx="5760720" cy="8229600"/>
            <a:chOff x="0" y="0"/>
            <a:chExt cx="4445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-1080000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0"/>
                  </a:move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lose/>
                </a:path>
              </a:pathLst>
            </a:custGeom>
            <a:blipFill>
              <a:blip r:embed="rId5">
                <a:alphaModFix amt="39000"/>
              </a:blip>
              <a:stretch>
                <a:fillRect l="0" t="-2532" r="0" b="-253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35340" y="1038186"/>
            <a:ext cx="5754080" cy="8220114"/>
            <a:chOff x="0" y="0"/>
            <a:chExt cx="4445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585595" y="3504645"/>
            <a:ext cx="4646929" cy="296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2"/>
              </a:lnSpc>
            </a:pPr>
            <a:r>
              <a:rPr lang="en-US" sz="6335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OVERVIEW</a:t>
            </a:r>
          </a:p>
          <a:p>
            <a:pPr algn="ctr" marL="0" indent="0" lvl="0">
              <a:lnSpc>
                <a:spcPts val="7602"/>
              </a:lnSpc>
              <a:spcBef>
                <a:spcPct val="0"/>
              </a:spcBef>
            </a:pPr>
            <a:r>
              <a:rPr lang="en-US" b="true" sz="633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DEL PROCESSO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43432" y="3241841"/>
            <a:ext cx="2176471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Analisi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Dati e Issue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38206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38206" y="4478824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28937" y="3241841"/>
            <a:ext cx="2176471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Modelli e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Training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23711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60569" y="3241841"/>
            <a:ext cx="2176471" cy="880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Raccolta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Dati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655343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64418" y="5772028"/>
            <a:ext cx="2568772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Analisi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Prestazioni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38597" y="5820789"/>
            <a:ext cx="2599706" cy="1304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Considerazioni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Finali</a:t>
            </a:r>
          </a:p>
          <a:p>
            <a:pPr algn="ctr">
              <a:lnSpc>
                <a:spcPts val="3481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8655343" y="4478824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</p:spTree>
  </p:cSld>
  <p:clrMapOvr>
    <a:masterClrMapping/>
  </p:clrMapOvr>
  <p:transition spd="fast">
    <p:cover dir="d"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2492758" y="2372696"/>
            <a:ext cx="1943100" cy="161652"/>
            <a:chOff x="0" y="0"/>
            <a:chExt cx="511763" cy="42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473780" y="1841110"/>
            <a:ext cx="1224824" cy="122482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3383482" y="4122253"/>
            <a:ext cx="11301259" cy="5565870"/>
          </a:xfrm>
          <a:custGeom>
            <a:avLst/>
            <a:gdLst/>
            <a:ahLst/>
            <a:cxnLst/>
            <a:rect r="r" b="b" t="t" l="l"/>
            <a:pathLst>
              <a:path h="5565870" w="11301259">
                <a:moveTo>
                  <a:pt x="0" y="0"/>
                </a:moveTo>
                <a:lnTo>
                  <a:pt x="11301259" y="0"/>
                </a:lnTo>
                <a:lnTo>
                  <a:pt x="11301259" y="5565870"/>
                </a:lnTo>
                <a:lnTo>
                  <a:pt x="0" y="5565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01049" y="1472447"/>
            <a:ext cx="685434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51"/>
              </a:lnSpc>
              <a:spcBef>
                <a:spcPct val="0"/>
              </a:spcBef>
            </a:pPr>
            <a:r>
              <a:rPr lang="en-US" b="true" sz="537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ANALISI ACCURACY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01049" y="2396372"/>
            <a:ext cx="10596820" cy="41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5"/>
              </a:lnSpc>
              <a:spcBef>
                <a:spcPct val="0"/>
              </a:spcBef>
            </a:pPr>
            <a:r>
              <a:rPr lang="en-US" sz="2344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Di seguito è riportata l’analisi delle accuracy dei vari modelli.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8069" y="1983962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</p:spTree>
  </p:cSld>
  <p:clrMapOvr>
    <a:masterClrMapping/>
  </p:clrMapOvr>
  <p:transition spd="slow">
    <p:push dir="l"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2492758" y="2372696"/>
            <a:ext cx="1943100" cy="161652"/>
            <a:chOff x="0" y="0"/>
            <a:chExt cx="511763" cy="42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473780" y="1841110"/>
            <a:ext cx="1224824" cy="122482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3383482" y="4408804"/>
            <a:ext cx="11301259" cy="5579997"/>
          </a:xfrm>
          <a:custGeom>
            <a:avLst/>
            <a:gdLst/>
            <a:ahLst/>
            <a:cxnLst/>
            <a:rect r="r" b="b" t="t" l="l"/>
            <a:pathLst>
              <a:path h="5579997" w="11301259">
                <a:moveTo>
                  <a:pt x="0" y="0"/>
                </a:moveTo>
                <a:lnTo>
                  <a:pt x="11301259" y="0"/>
                </a:lnTo>
                <a:lnTo>
                  <a:pt x="11301259" y="5579997"/>
                </a:lnTo>
                <a:lnTo>
                  <a:pt x="0" y="55799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01049" y="1472447"/>
            <a:ext cx="7598868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51"/>
              </a:lnSpc>
              <a:spcBef>
                <a:spcPct val="0"/>
              </a:spcBef>
            </a:pPr>
            <a:r>
              <a:rPr lang="en-US" b="true" sz="537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ANALISI PRESTAZIONI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01049" y="2396372"/>
            <a:ext cx="10596820" cy="822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5"/>
              </a:lnSpc>
              <a:spcBef>
                <a:spcPct val="0"/>
              </a:spcBef>
            </a:pPr>
            <a:r>
              <a:rPr lang="en-US" sz="2344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Di seguito è riportata l’analisi completa delle prestazioni dei vari modelli sulle metriche di Precision, Recall e F1-Score (approssimate per eccesso).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8069" y="1983962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2492758" y="2372696"/>
            <a:ext cx="1943100" cy="161652"/>
            <a:chOff x="0" y="0"/>
            <a:chExt cx="511763" cy="42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473780" y="1841110"/>
            <a:ext cx="1224824" cy="122482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889308" y="2866410"/>
            <a:ext cx="7908518" cy="6712354"/>
          </a:xfrm>
          <a:custGeom>
            <a:avLst/>
            <a:gdLst/>
            <a:ahLst/>
            <a:cxnLst/>
            <a:rect r="r" b="b" t="t" l="l"/>
            <a:pathLst>
              <a:path h="6712354" w="7908518">
                <a:moveTo>
                  <a:pt x="0" y="0"/>
                </a:moveTo>
                <a:lnTo>
                  <a:pt x="7908518" y="0"/>
                </a:lnTo>
                <a:lnTo>
                  <a:pt x="7908518" y="6712355"/>
                </a:lnTo>
                <a:lnTo>
                  <a:pt x="0" y="67123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01049" y="1472447"/>
            <a:ext cx="7598868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51"/>
              </a:lnSpc>
              <a:spcBef>
                <a:spcPct val="0"/>
              </a:spcBef>
            </a:pPr>
            <a:r>
              <a:rPr lang="en-US" b="true" sz="537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CONFUSION MATRIX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01049" y="2396372"/>
            <a:ext cx="10596820" cy="41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5"/>
              </a:lnSpc>
              <a:spcBef>
                <a:spcPct val="0"/>
              </a:spcBef>
            </a:pPr>
            <a:r>
              <a:rPr lang="en-US" sz="2344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Verifichiamo dove si confondono i modelli.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8069" y="1983962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  <p:grpSp>
        <p:nvGrpSpPr>
          <p:cNvPr name="Group 15" id="15"/>
          <p:cNvGrpSpPr/>
          <p:nvPr/>
        </p:nvGrpSpPr>
        <p:grpSpPr>
          <a:xfrm rot="5400000">
            <a:off x="2028527" y="4316895"/>
            <a:ext cx="518653" cy="403322"/>
            <a:chOff x="0" y="0"/>
            <a:chExt cx="812800" cy="6320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2028527" y="6533491"/>
            <a:ext cx="518653" cy="403322"/>
            <a:chOff x="0" y="0"/>
            <a:chExt cx="812800" cy="6320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5400000">
            <a:off x="5534688" y="4326052"/>
            <a:ext cx="518653" cy="403322"/>
            <a:chOff x="0" y="0"/>
            <a:chExt cx="812800" cy="63206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5400000">
            <a:off x="5534688" y="6557811"/>
            <a:ext cx="518653" cy="403322"/>
            <a:chOff x="0" y="0"/>
            <a:chExt cx="812800" cy="6320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803642" y="6409151"/>
            <a:ext cx="2492805" cy="109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68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RANDOM</a:t>
            </a:r>
          </a:p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FOREST TN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803642" y="4183397"/>
            <a:ext cx="2702529" cy="109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68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LOGISTIC</a:t>
            </a:r>
          </a:p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REGRESSION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308143" y="4192554"/>
            <a:ext cx="2492805" cy="109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68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RANDOM</a:t>
            </a:r>
          </a:p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FOREST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309803" y="6424313"/>
            <a:ext cx="2492805" cy="109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68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GRADIENT</a:t>
            </a:r>
          </a:p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BOOSTING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2492758" y="2372696"/>
            <a:ext cx="1943100" cy="161652"/>
            <a:chOff x="0" y="0"/>
            <a:chExt cx="511763" cy="42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473780" y="1841110"/>
            <a:ext cx="1224824" cy="122482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536184" y="3125013"/>
            <a:ext cx="7215631" cy="6133287"/>
          </a:xfrm>
          <a:custGeom>
            <a:avLst/>
            <a:gdLst/>
            <a:ahLst/>
            <a:cxnLst/>
            <a:rect r="r" b="b" t="t" l="l"/>
            <a:pathLst>
              <a:path h="6133287" w="7215631">
                <a:moveTo>
                  <a:pt x="0" y="0"/>
                </a:moveTo>
                <a:lnTo>
                  <a:pt x="7215632" y="0"/>
                </a:lnTo>
                <a:lnTo>
                  <a:pt x="7215632" y="6133287"/>
                </a:lnTo>
                <a:lnTo>
                  <a:pt x="0" y="6133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01049" y="1472447"/>
            <a:ext cx="8322418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51"/>
              </a:lnSpc>
              <a:spcBef>
                <a:spcPct val="0"/>
              </a:spcBef>
            </a:pPr>
            <a:r>
              <a:rPr lang="en-US" b="true" sz="537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FEATURE CORRELATION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01049" y="2396372"/>
            <a:ext cx="10596820" cy="41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5"/>
              </a:lnSpc>
              <a:spcBef>
                <a:spcPct val="0"/>
              </a:spcBef>
            </a:pPr>
            <a:r>
              <a:rPr lang="en-US" sz="2344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Questa heatmap ci aiuta a capire la correlazione fra le feature.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8069" y="1983962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  <p:grpSp>
        <p:nvGrpSpPr>
          <p:cNvPr name="Group 15" id="15"/>
          <p:cNvGrpSpPr/>
          <p:nvPr/>
        </p:nvGrpSpPr>
        <p:grpSpPr>
          <a:xfrm rot="5400000">
            <a:off x="12923729" y="3928904"/>
            <a:ext cx="518653" cy="403322"/>
            <a:chOff x="0" y="0"/>
            <a:chExt cx="812800" cy="6320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12923729" y="5267046"/>
            <a:ext cx="518653" cy="403322"/>
            <a:chOff x="0" y="0"/>
            <a:chExt cx="812800" cy="6320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698844" y="3795406"/>
            <a:ext cx="2702529" cy="109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68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BATTERY </a:t>
            </a:r>
          </a:p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SCREEN-SIZE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98844" y="5145130"/>
            <a:ext cx="2702529" cy="109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68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WEIGHT</a:t>
            </a:r>
          </a:p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SCREEN-SIZE</a:t>
            </a:r>
          </a:p>
        </p:txBody>
      </p:sp>
      <p:grpSp>
        <p:nvGrpSpPr>
          <p:cNvPr name="Group 23" id="23"/>
          <p:cNvGrpSpPr/>
          <p:nvPr/>
        </p:nvGrpSpPr>
        <p:grpSpPr>
          <a:xfrm rot="5400000">
            <a:off x="12923729" y="6510015"/>
            <a:ext cx="518653" cy="403322"/>
            <a:chOff x="0" y="0"/>
            <a:chExt cx="812800" cy="63206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3698844" y="6388099"/>
            <a:ext cx="2702529" cy="109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68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DAYS_USED</a:t>
            </a:r>
          </a:p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MODEL_AGE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2492758" y="2372696"/>
            <a:ext cx="1943100" cy="161652"/>
            <a:chOff x="0" y="0"/>
            <a:chExt cx="511763" cy="42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473780" y="1841110"/>
            <a:ext cx="1224824" cy="122482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13196371" y="3630323"/>
            <a:ext cx="518653" cy="403322"/>
            <a:chOff x="0" y="0"/>
            <a:chExt cx="812800" cy="6320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5400000">
            <a:off x="13196371" y="4968465"/>
            <a:ext cx="518653" cy="403322"/>
            <a:chOff x="0" y="0"/>
            <a:chExt cx="812800" cy="6320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3383482" y="3563500"/>
            <a:ext cx="9571092" cy="5694800"/>
          </a:xfrm>
          <a:custGeom>
            <a:avLst/>
            <a:gdLst/>
            <a:ahLst/>
            <a:cxnLst/>
            <a:rect r="r" b="b" t="t" l="l"/>
            <a:pathLst>
              <a:path h="5694800" w="9571092">
                <a:moveTo>
                  <a:pt x="0" y="0"/>
                </a:moveTo>
                <a:lnTo>
                  <a:pt x="9571092" y="0"/>
                </a:lnTo>
                <a:lnTo>
                  <a:pt x="9571092" y="5694800"/>
                </a:lnTo>
                <a:lnTo>
                  <a:pt x="0" y="569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775428" y="2982671"/>
            <a:ext cx="884920" cy="580829"/>
          </a:xfrm>
          <a:custGeom>
            <a:avLst/>
            <a:gdLst/>
            <a:ahLst/>
            <a:cxnLst/>
            <a:rect r="r" b="b" t="t" l="l"/>
            <a:pathLst>
              <a:path h="580829" w="884920">
                <a:moveTo>
                  <a:pt x="0" y="0"/>
                </a:moveTo>
                <a:lnTo>
                  <a:pt x="884920" y="0"/>
                </a:lnTo>
                <a:lnTo>
                  <a:pt x="884920" y="580829"/>
                </a:lnTo>
                <a:lnTo>
                  <a:pt x="0" y="5808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001049" y="1472447"/>
            <a:ext cx="8322418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51"/>
              </a:lnSpc>
              <a:spcBef>
                <a:spcPct val="0"/>
              </a:spcBef>
            </a:pPr>
            <a:r>
              <a:rPr lang="en-US" b="true" sz="537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FEATURE IMPORTANCE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001049" y="2396372"/>
            <a:ext cx="10596820" cy="41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5"/>
              </a:lnSpc>
              <a:spcBef>
                <a:spcPct val="0"/>
              </a:spcBef>
            </a:pPr>
            <a:r>
              <a:rPr lang="en-US" sz="2344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Questa heatmap ci aiuta a capire l’importanza (sul prezzo finale) delle varie feature.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58069" y="1983962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971486" y="3496825"/>
            <a:ext cx="2765447" cy="54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CAMERA MP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71486" y="4846548"/>
            <a:ext cx="2492805" cy="54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MODEL_AGE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88111" y="5621860"/>
            <a:ext cx="3597403" cy="10445885"/>
            <a:chOff x="0" y="0"/>
            <a:chExt cx="862412" cy="25042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2412" cy="2504210"/>
            </a:xfrm>
            <a:custGeom>
              <a:avLst/>
              <a:gdLst/>
              <a:ahLst/>
              <a:cxnLst/>
              <a:rect r="r" b="b" t="t" l="l"/>
              <a:pathLst>
                <a:path h="2504210" w="862412">
                  <a:moveTo>
                    <a:pt x="215209" y="0"/>
                  </a:moveTo>
                  <a:lnTo>
                    <a:pt x="647203" y="0"/>
                  </a:lnTo>
                  <a:cubicBezTo>
                    <a:pt x="704280" y="0"/>
                    <a:pt x="759019" y="22674"/>
                    <a:pt x="799378" y="63033"/>
                  </a:cubicBezTo>
                  <a:cubicBezTo>
                    <a:pt x="839738" y="103393"/>
                    <a:pt x="862412" y="158132"/>
                    <a:pt x="862412" y="215209"/>
                  </a:cubicBezTo>
                  <a:lnTo>
                    <a:pt x="862412" y="2289001"/>
                  </a:lnTo>
                  <a:cubicBezTo>
                    <a:pt x="862412" y="2346078"/>
                    <a:pt x="839738" y="2400817"/>
                    <a:pt x="799378" y="2441177"/>
                  </a:cubicBezTo>
                  <a:cubicBezTo>
                    <a:pt x="759019" y="2481536"/>
                    <a:pt x="704280" y="2504210"/>
                    <a:pt x="647203" y="2504210"/>
                  </a:cubicBezTo>
                  <a:lnTo>
                    <a:pt x="215209" y="2504210"/>
                  </a:lnTo>
                  <a:cubicBezTo>
                    <a:pt x="158132" y="2504210"/>
                    <a:pt x="103393" y="2481536"/>
                    <a:pt x="63033" y="2441177"/>
                  </a:cubicBezTo>
                  <a:cubicBezTo>
                    <a:pt x="22674" y="2400817"/>
                    <a:pt x="0" y="2346078"/>
                    <a:pt x="0" y="2289001"/>
                  </a:cubicBezTo>
                  <a:lnTo>
                    <a:pt x="0" y="215209"/>
                  </a:lnTo>
                  <a:cubicBezTo>
                    <a:pt x="0" y="158132"/>
                    <a:pt x="22674" y="103393"/>
                    <a:pt x="63033" y="63033"/>
                  </a:cubicBezTo>
                  <a:cubicBezTo>
                    <a:pt x="103393" y="22674"/>
                    <a:pt x="158132" y="0"/>
                    <a:pt x="215209" y="0"/>
                  </a:cubicBezTo>
                  <a:close/>
                </a:path>
              </a:pathLst>
            </a:custGeom>
            <a:solidFill>
              <a:srgbClr val="0A3265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62412" cy="2551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919074" y="2937383"/>
            <a:ext cx="3597403" cy="13130362"/>
            <a:chOff x="0" y="0"/>
            <a:chExt cx="862412" cy="31477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2412" cy="3147764"/>
            </a:xfrm>
            <a:custGeom>
              <a:avLst/>
              <a:gdLst/>
              <a:ahLst/>
              <a:cxnLst/>
              <a:rect r="r" b="b" t="t" l="l"/>
              <a:pathLst>
                <a:path h="3147764" w="862412">
                  <a:moveTo>
                    <a:pt x="215209" y="0"/>
                  </a:moveTo>
                  <a:lnTo>
                    <a:pt x="647203" y="0"/>
                  </a:lnTo>
                  <a:cubicBezTo>
                    <a:pt x="704280" y="0"/>
                    <a:pt x="759019" y="22674"/>
                    <a:pt x="799378" y="63033"/>
                  </a:cubicBezTo>
                  <a:cubicBezTo>
                    <a:pt x="839738" y="103393"/>
                    <a:pt x="862412" y="158132"/>
                    <a:pt x="862412" y="215209"/>
                  </a:cubicBezTo>
                  <a:lnTo>
                    <a:pt x="862412" y="2932556"/>
                  </a:lnTo>
                  <a:cubicBezTo>
                    <a:pt x="862412" y="2989633"/>
                    <a:pt x="839738" y="3044372"/>
                    <a:pt x="799378" y="3084731"/>
                  </a:cubicBezTo>
                  <a:cubicBezTo>
                    <a:pt x="759019" y="3125091"/>
                    <a:pt x="704280" y="3147764"/>
                    <a:pt x="647203" y="3147764"/>
                  </a:cubicBezTo>
                  <a:lnTo>
                    <a:pt x="215209" y="3147764"/>
                  </a:lnTo>
                  <a:cubicBezTo>
                    <a:pt x="158132" y="3147764"/>
                    <a:pt x="103393" y="3125091"/>
                    <a:pt x="63033" y="3084731"/>
                  </a:cubicBezTo>
                  <a:cubicBezTo>
                    <a:pt x="22674" y="3044372"/>
                    <a:pt x="0" y="2989633"/>
                    <a:pt x="0" y="2932556"/>
                  </a:cubicBezTo>
                  <a:lnTo>
                    <a:pt x="0" y="215209"/>
                  </a:lnTo>
                  <a:cubicBezTo>
                    <a:pt x="0" y="158132"/>
                    <a:pt x="22674" y="103393"/>
                    <a:pt x="63033" y="63033"/>
                  </a:cubicBezTo>
                  <a:cubicBezTo>
                    <a:pt x="103393" y="22674"/>
                    <a:pt x="158132" y="0"/>
                    <a:pt x="215209" y="0"/>
                  </a:cubicBezTo>
                  <a:close/>
                </a:path>
              </a:pathLst>
            </a:custGeom>
            <a:solidFill>
              <a:srgbClr val="145DA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62412" cy="3195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63052" y="3639961"/>
            <a:ext cx="3597403" cy="12427784"/>
            <a:chOff x="0" y="0"/>
            <a:chExt cx="862412" cy="29793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62412" cy="2979334"/>
            </a:xfrm>
            <a:custGeom>
              <a:avLst/>
              <a:gdLst/>
              <a:ahLst/>
              <a:cxnLst/>
              <a:rect r="r" b="b" t="t" l="l"/>
              <a:pathLst>
                <a:path h="2979334" w="862412">
                  <a:moveTo>
                    <a:pt x="215209" y="0"/>
                  </a:moveTo>
                  <a:lnTo>
                    <a:pt x="647203" y="0"/>
                  </a:lnTo>
                  <a:cubicBezTo>
                    <a:pt x="704280" y="0"/>
                    <a:pt x="759019" y="22674"/>
                    <a:pt x="799378" y="63033"/>
                  </a:cubicBezTo>
                  <a:cubicBezTo>
                    <a:pt x="839738" y="103393"/>
                    <a:pt x="862412" y="158132"/>
                    <a:pt x="862412" y="215209"/>
                  </a:cubicBezTo>
                  <a:lnTo>
                    <a:pt x="862412" y="2764125"/>
                  </a:lnTo>
                  <a:cubicBezTo>
                    <a:pt x="862412" y="2821202"/>
                    <a:pt x="839738" y="2875942"/>
                    <a:pt x="799378" y="2916301"/>
                  </a:cubicBezTo>
                  <a:cubicBezTo>
                    <a:pt x="759019" y="2956660"/>
                    <a:pt x="704280" y="2979334"/>
                    <a:pt x="647203" y="2979334"/>
                  </a:cubicBezTo>
                  <a:lnTo>
                    <a:pt x="215209" y="2979334"/>
                  </a:lnTo>
                  <a:cubicBezTo>
                    <a:pt x="158132" y="2979334"/>
                    <a:pt x="103393" y="2956660"/>
                    <a:pt x="63033" y="2916301"/>
                  </a:cubicBezTo>
                  <a:cubicBezTo>
                    <a:pt x="22674" y="2875942"/>
                    <a:pt x="0" y="2821202"/>
                    <a:pt x="0" y="2764125"/>
                  </a:cubicBezTo>
                  <a:lnTo>
                    <a:pt x="0" y="215209"/>
                  </a:lnTo>
                  <a:cubicBezTo>
                    <a:pt x="0" y="158132"/>
                    <a:pt x="22674" y="103393"/>
                    <a:pt x="63033" y="63033"/>
                  </a:cubicBezTo>
                  <a:cubicBezTo>
                    <a:pt x="103393" y="22674"/>
                    <a:pt x="158132" y="0"/>
                    <a:pt x="215209" y="0"/>
                  </a:cubicBezTo>
                  <a:close/>
                </a:path>
              </a:pathLst>
            </a:custGeom>
            <a:solidFill>
              <a:srgbClr val="0A3265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62412" cy="3026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008130" y="6176943"/>
            <a:ext cx="3597403" cy="9295249"/>
            <a:chOff x="0" y="0"/>
            <a:chExt cx="862412" cy="22283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62412" cy="2228366"/>
            </a:xfrm>
            <a:custGeom>
              <a:avLst/>
              <a:gdLst/>
              <a:ahLst/>
              <a:cxnLst/>
              <a:rect r="r" b="b" t="t" l="l"/>
              <a:pathLst>
                <a:path h="2228366" w="862412">
                  <a:moveTo>
                    <a:pt x="215209" y="0"/>
                  </a:moveTo>
                  <a:lnTo>
                    <a:pt x="647203" y="0"/>
                  </a:lnTo>
                  <a:cubicBezTo>
                    <a:pt x="704280" y="0"/>
                    <a:pt x="759019" y="22674"/>
                    <a:pt x="799378" y="63033"/>
                  </a:cubicBezTo>
                  <a:cubicBezTo>
                    <a:pt x="839738" y="103393"/>
                    <a:pt x="862412" y="158132"/>
                    <a:pt x="862412" y="215209"/>
                  </a:cubicBezTo>
                  <a:lnTo>
                    <a:pt x="862412" y="2013158"/>
                  </a:lnTo>
                  <a:cubicBezTo>
                    <a:pt x="862412" y="2070234"/>
                    <a:pt x="839738" y="2124974"/>
                    <a:pt x="799378" y="2165333"/>
                  </a:cubicBezTo>
                  <a:cubicBezTo>
                    <a:pt x="759019" y="2205692"/>
                    <a:pt x="704280" y="2228366"/>
                    <a:pt x="647203" y="2228366"/>
                  </a:cubicBezTo>
                  <a:lnTo>
                    <a:pt x="215209" y="2228366"/>
                  </a:lnTo>
                  <a:cubicBezTo>
                    <a:pt x="158132" y="2228366"/>
                    <a:pt x="103393" y="2205692"/>
                    <a:pt x="63033" y="2165333"/>
                  </a:cubicBezTo>
                  <a:cubicBezTo>
                    <a:pt x="22674" y="2124974"/>
                    <a:pt x="0" y="2070234"/>
                    <a:pt x="0" y="2013158"/>
                  </a:cubicBezTo>
                  <a:lnTo>
                    <a:pt x="0" y="215209"/>
                  </a:lnTo>
                  <a:cubicBezTo>
                    <a:pt x="0" y="158132"/>
                    <a:pt x="22674" y="103393"/>
                    <a:pt x="63033" y="63033"/>
                  </a:cubicBezTo>
                  <a:cubicBezTo>
                    <a:pt x="103393" y="22674"/>
                    <a:pt x="158132" y="0"/>
                    <a:pt x="215209" y="0"/>
                  </a:cubicBezTo>
                  <a:close/>
                </a:path>
              </a:pathLst>
            </a:custGeom>
            <a:solidFill>
              <a:srgbClr val="0A3265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62412" cy="2275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6673535" y="524222"/>
            <a:ext cx="2088482" cy="2413162"/>
          </a:xfrm>
          <a:custGeom>
            <a:avLst/>
            <a:gdLst/>
            <a:ahLst/>
            <a:cxnLst/>
            <a:rect r="r" b="b" t="t" l="l"/>
            <a:pathLst>
              <a:path h="2413162" w="2088482">
                <a:moveTo>
                  <a:pt x="0" y="0"/>
                </a:moveTo>
                <a:lnTo>
                  <a:pt x="2088482" y="0"/>
                </a:lnTo>
                <a:lnTo>
                  <a:pt x="2088482" y="2413161"/>
                </a:lnTo>
                <a:lnTo>
                  <a:pt x="0" y="24131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124890" y="6167418"/>
            <a:ext cx="312384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8"/>
              </a:lnSpc>
            </a:pPr>
            <a:r>
              <a:rPr lang="en-US" b="true" sz="3432" spc="17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GRADIENT</a:t>
            </a:r>
          </a:p>
          <a:p>
            <a:pPr algn="ctr">
              <a:lnSpc>
                <a:spcPts val="4118"/>
              </a:lnSpc>
            </a:pPr>
            <a:r>
              <a:rPr lang="en-US" b="true" sz="3432" spc="17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BOOSTING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70279" y="7186593"/>
            <a:ext cx="2633068" cy="38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8"/>
              </a:lnSpc>
            </a:pPr>
            <a:r>
              <a:rPr lang="en-US" b="true" sz="2349" spc="117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3° Posto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17822" y="3630436"/>
            <a:ext cx="319990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8"/>
              </a:lnSpc>
            </a:pPr>
            <a:r>
              <a:rPr lang="en-US" b="true" sz="3432" spc="17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LOGISTIC</a:t>
            </a:r>
          </a:p>
          <a:p>
            <a:pPr algn="ctr">
              <a:lnSpc>
                <a:spcPts val="4118"/>
              </a:lnSpc>
            </a:pPr>
            <a:r>
              <a:rPr lang="en-US" b="true" sz="3432" spc="17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REGRESSION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01242" y="4649611"/>
            <a:ext cx="2633068" cy="38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8"/>
              </a:lnSpc>
            </a:pPr>
            <a:r>
              <a:rPr lang="en-US" b="true" sz="2349" spc="117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1° Posto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12707" y="4253192"/>
            <a:ext cx="229809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8"/>
              </a:lnSpc>
            </a:pPr>
            <a:r>
              <a:rPr lang="en-US" b="true" sz="3432" spc="17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RANDOM</a:t>
            </a:r>
          </a:p>
          <a:p>
            <a:pPr algn="ctr">
              <a:lnSpc>
                <a:spcPts val="4118"/>
              </a:lnSpc>
            </a:pPr>
            <a:r>
              <a:rPr lang="en-US" b="true" sz="3432" spc="17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FOREST</a:t>
            </a:r>
          </a:p>
          <a:p>
            <a:pPr algn="ctr">
              <a:lnSpc>
                <a:spcPts val="4118"/>
              </a:lnSpc>
            </a:pPr>
            <a:r>
              <a:rPr lang="en-US" b="true" sz="3432" spc="17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TUNED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45219" y="5786717"/>
            <a:ext cx="2633068" cy="38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8"/>
              </a:lnSpc>
            </a:pPr>
            <a:r>
              <a:rPr lang="en-US" b="true" sz="2349" spc="117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2° Posto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657785" y="6605243"/>
            <a:ext cx="229809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8"/>
              </a:lnSpc>
            </a:pPr>
            <a:r>
              <a:rPr lang="en-US" b="true" sz="3432" spc="17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RANDOM</a:t>
            </a:r>
          </a:p>
          <a:p>
            <a:pPr algn="ctr">
              <a:lnSpc>
                <a:spcPts val="4118"/>
              </a:lnSpc>
            </a:pPr>
            <a:r>
              <a:rPr lang="en-US" b="true" sz="3432" spc="17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FOREST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490297" y="7547893"/>
            <a:ext cx="2633068" cy="38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8"/>
              </a:lnSpc>
            </a:pPr>
            <a:r>
              <a:rPr lang="en-US" b="true" sz="2349" spc="117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4° Posto</a:t>
            </a:r>
          </a:p>
        </p:txBody>
      </p:sp>
      <p:grpSp>
        <p:nvGrpSpPr>
          <p:cNvPr name="Group 27" id="27"/>
          <p:cNvGrpSpPr/>
          <p:nvPr/>
        </p:nvGrpSpPr>
        <p:grpSpPr>
          <a:xfrm rot="5400000">
            <a:off x="509046" y="416288"/>
            <a:ext cx="1224824" cy="1224824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393335" y="559140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560455" y="-1334497"/>
            <a:ext cx="4202211" cy="6003158"/>
            <a:chOff x="0" y="0"/>
            <a:chExt cx="4445000" cy="635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</p:spTree>
  </p:cSld>
  <p:clrMapOvr>
    <a:masterClrMapping/>
  </p:clrMapOvr>
  <p:transition spd="slow">
    <p:cover dir="l"/>
  </p:transition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11465621" y="1708206"/>
            <a:ext cx="1334733" cy="133473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11465621" y="4324131"/>
            <a:ext cx="1334733" cy="133473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4269007" y="1708206"/>
            <a:ext cx="1334733" cy="133473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8781438" y="1708206"/>
            <a:ext cx="1334733" cy="133473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8781438" y="4324131"/>
            <a:ext cx="1334733" cy="133473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1338206" y="4267112"/>
            <a:ext cx="1632185" cy="1442258"/>
          </a:xfrm>
          <a:custGeom>
            <a:avLst/>
            <a:gdLst/>
            <a:ahLst/>
            <a:cxnLst/>
            <a:rect r="r" b="b" t="t" l="l"/>
            <a:pathLst>
              <a:path h="1442258" w="1632185">
                <a:moveTo>
                  <a:pt x="0" y="0"/>
                </a:moveTo>
                <a:lnTo>
                  <a:pt x="1632185" y="0"/>
                </a:lnTo>
                <a:lnTo>
                  <a:pt x="1632185" y="1442258"/>
                </a:lnTo>
                <a:lnTo>
                  <a:pt x="0" y="14422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10800000">
            <a:off x="1028700" y="1028700"/>
            <a:ext cx="5760720" cy="8229600"/>
            <a:chOff x="0" y="0"/>
            <a:chExt cx="4445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-1080000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0"/>
                  </a:move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lose/>
                </a:path>
              </a:pathLst>
            </a:custGeom>
            <a:blipFill>
              <a:blip r:embed="rId5">
                <a:alphaModFix amt="39000"/>
              </a:blip>
              <a:stretch>
                <a:fillRect l="0" t="-2532" r="0" b="-253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35340" y="1038186"/>
            <a:ext cx="5754080" cy="8220114"/>
            <a:chOff x="0" y="0"/>
            <a:chExt cx="4445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585595" y="3504645"/>
            <a:ext cx="4646929" cy="296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2"/>
              </a:lnSpc>
            </a:pPr>
            <a:r>
              <a:rPr lang="en-US" sz="6335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OVERVIEW</a:t>
            </a:r>
          </a:p>
          <a:p>
            <a:pPr algn="ctr" marL="0" indent="0" lvl="0">
              <a:lnSpc>
                <a:spcPts val="7602"/>
              </a:lnSpc>
              <a:spcBef>
                <a:spcPct val="0"/>
              </a:spcBef>
            </a:pPr>
            <a:r>
              <a:rPr lang="en-US" b="true" sz="633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DEL PROCESSO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43432" y="3241841"/>
            <a:ext cx="2176471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Analisi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Dati e Issue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38206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38206" y="4478824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28937" y="3241841"/>
            <a:ext cx="2176471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Modelli e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Training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23711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60569" y="3241841"/>
            <a:ext cx="2176471" cy="880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Raccolta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Dati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655343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64418" y="5772028"/>
            <a:ext cx="2568772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Analisi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Prestazioni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38597" y="5820789"/>
            <a:ext cx="2599706" cy="1304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Considerazioni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Finali</a:t>
            </a:r>
          </a:p>
          <a:p>
            <a:pPr algn="ctr">
              <a:lnSpc>
                <a:spcPts val="3481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8655343" y="4478824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</p:spTree>
  </p:cSld>
  <p:clrMapOvr>
    <a:masterClrMapping/>
  </p:clrMapOvr>
  <p:transition spd="fast">
    <p:cover dir="d"/>
  </p:transition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05391" y="-56898"/>
            <a:ext cx="12010783" cy="10400796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4976691" y="-56898"/>
            <a:ext cx="12010783" cy="10400796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8513348" y="3312446"/>
            <a:ext cx="518653" cy="403322"/>
            <a:chOff x="0" y="0"/>
            <a:chExt cx="812800" cy="6320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8513348" y="4941839"/>
            <a:ext cx="518653" cy="403322"/>
            <a:chOff x="0" y="0"/>
            <a:chExt cx="812800" cy="6320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8513348" y="6593231"/>
            <a:ext cx="518653" cy="403322"/>
            <a:chOff x="0" y="0"/>
            <a:chExt cx="812800" cy="6320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478059" y="3920409"/>
            <a:ext cx="2446183" cy="2446183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200025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5858816" y="4312125"/>
            <a:ext cx="1685970" cy="1437673"/>
          </a:xfrm>
          <a:custGeom>
            <a:avLst/>
            <a:gdLst/>
            <a:ahLst/>
            <a:cxnLst/>
            <a:rect r="r" b="b" t="t" l="l"/>
            <a:pathLst>
              <a:path h="1437673" w="1685970">
                <a:moveTo>
                  <a:pt x="0" y="0"/>
                </a:moveTo>
                <a:lnTo>
                  <a:pt x="1685970" y="0"/>
                </a:lnTo>
                <a:lnTo>
                  <a:pt x="1685970" y="1437672"/>
                </a:lnTo>
                <a:lnTo>
                  <a:pt x="0" y="14376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288463" y="3188105"/>
            <a:ext cx="2492805" cy="109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68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ACCURACY</a:t>
            </a:r>
          </a:p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65%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86803" y="4808341"/>
            <a:ext cx="2492805" cy="54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DATA DRIFT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86803" y="6293769"/>
            <a:ext cx="2492805" cy="109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68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ESTERNAL</a:t>
            </a:r>
          </a:p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FEATURE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54984" y="4095845"/>
            <a:ext cx="4365731" cy="202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4"/>
              </a:lnSpc>
            </a:pPr>
            <a:r>
              <a:rPr lang="en-US" sz="657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LIMITI DEL</a:t>
            </a:r>
          </a:p>
          <a:p>
            <a:pPr algn="l" marL="0" indent="0" lvl="0">
              <a:lnSpc>
                <a:spcPts val="7884"/>
              </a:lnSpc>
              <a:spcBef>
                <a:spcPct val="0"/>
              </a:spcBef>
            </a:pPr>
            <a:r>
              <a:rPr lang="en-US" b="true" sz="657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MODELLO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112167" y="4086320"/>
            <a:ext cx="4669832" cy="204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4"/>
              </a:lnSpc>
            </a:pPr>
            <a:r>
              <a:rPr lang="en-US" sz="657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RETRAIN</a:t>
            </a:r>
          </a:p>
          <a:p>
            <a:pPr algn="l" marL="0" indent="0" lvl="0">
              <a:lnSpc>
                <a:spcPts val="7884"/>
              </a:lnSpc>
              <a:spcBef>
                <a:spcPct val="0"/>
              </a:spcBef>
            </a:pPr>
            <a:r>
              <a:rPr lang="en-US" b="true" sz="657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PERIODICO</a:t>
            </a:r>
          </a:p>
        </p:txBody>
      </p:sp>
      <p:sp>
        <p:nvSpPr>
          <p:cNvPr name="AutoShape 26" id="26"/>
          <p:cNvSpPr/>
          <p:nvPr/>
        </p:nvSpPr>
        <p:spPr>
          <a:xfrm flipH="true">
            <a:off x="11755510" y="5115020"/>
            <a:ext cx="308907" cy="171133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>
            <a:off x="11779608" y="5115020"/>
            <a:ext cx="133256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 flipV="true">
            <a:off x="11758613" y="3773434"/>
            <a:ext cx="305805" cy="134158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l"/>
  </p:transition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30201" y="97811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4604230" y="5864061"/>
            <a:ext cx="5246522" cy="7495031"/>
            <a:chOff x="0" y="0"/>
            <a:chExt cx="4445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-1080000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0"/>
                  </a:move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lose/>
                </a:path>
              </a:pathLst>
            </a:custGeom>
            <a:blipFill>
              <a:blip r:embed="rId4"/>
              <a:stretch>
                <a:fillRect l="-20853" t="-24443" r="-20853" b="-24443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628220" y="-192513"/>
            <a:ext cx="1683983" cy="2405689"/>
            <a:chOff x="0" y="0"/>
            <a:chExt cx="444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5"/>
              <a:stretch>
                <a:fillRect l="-201730" t="0" r="-20173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330477" y="-2860791"/>
            <a:ext cx="6752859" cy="9646942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1428" t="0" r="-2142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-330477" y="-2860791"/>
            <a:ext cx="6752859" cy="9646942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7"/>
              <a:stretch>
                <a:fillRect l="0" t="-11269" r="0" b="-1126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7470211" y="4054115"/>
            <a:ext cx="841991" cy="84199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126211" t="0" r="-126211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7173262" y="1010331"/>
            <a:ext cx="13525091" cy="7376810"/>
          </a:xfrm>
          <a:custGeom>
            <a:avLst/>
            <a:gdLst/>
            <a:ahLst/>
            <a:cxnLst/>
            <a:rect r="r" b="b" t="t" l="l"/>
            <a:pathLst>
              <a:path h="7376810" w="13525091">
                <a:moveTo>
                  <a:pt x="0" y="0"/>
                </a:moveTo>
                <a:lnTo>
                  <a:pt x="13525091" y="0"/>
                </a:lnTo>
                <a:lnTo>
                  <a:pt x="13525091" y="7376810"/>
                </a:lnTo>
                <a:lnTo>
                  <a:pt x="0" y="73768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522948" y="5751580"/>
            <a:ext cx="5462641" cy="9135636"/>
            <a:chOff x="0" y="0"/>
            <a:chExt cx="3771442" cy="6307301"/>
          </a:xfrm>
        </p:grpSpPr>
        <p:sp>
          <p:nvSpPr>
            <p:cNvPr name="Freeform 15" id="15"/>
            <p:cNvSpPr/>
            <p:nvPr/>
          </p:nvSpPr>
          <p:spPr>
            <a:xfrm flipH="false" flipV="true" rot="0">
              <a:off x="0" y="0"/>
              <a:ext cx="3771442" cy="6307301"/>
            </a:xfrm>
            <a:custGeom>
              <a:avLst/>
              <a:gdLst/>
              <a:ahLst/>
              <a:cxnLst/>
              <a:rect r="r" b="b" t="t" l="l"/>
              <a:pathLst>
                <a:path h="6307301" w="3771442">
                  <a:moveTo>
                    <a:pt x="1885721" y="0"/>
                  </a:moveTo>
                  <a:cubicBezTo>
                    <a:pt x="844803" y="0"/>
                    <a:pt x="0" y="988985"/>
                    <a:pt x="0" y="2207556"/>
                  </a:cubicBezTo>
                  <a:lnTo>
                    <a:pt x="0" y="4099746"/>
                  </a:lnTo>
                  <a:cubicBezTo>
                    <a:pt x="0" y="5318317"/>
                    <a:pt x="844803" y="6307301"/>
                    <a:pt x="1885721" y="6307301"/>
                  </a:cubicBezTo>
                  <a:cubicBezTo>
                    <a:pt x="2926639" y="6307301"/>
                    <a:pt x="3771442" y="5318317"/>
                    <a:pt x="3771442" y="4099746"/>
                  </a:cubicBezTo>
                  <a:lnTo>
                    <a:pt x="3771442" y="2207556"/>
                  </a:lnTo>
                  <a:cubicBezTo>
                    <a:pt x="3771442" y="988985"/>
                    <a:pt x="2926639" y="0"/>
                    <a:pt x="1885721" y="0"/>
                  </a:cubicBezTo>
                  <a:close/>
                </a:path>
              </a:pathLst>
            </a:custGeom>
            <a:blipFill>
              <a:blip r:embed="rId5"/>
              <a:stretch>
                <a:fillRect l="-244693" t="0" r="-244693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-330477" y="-2110744"/>
            <a:ext cx="6715895" cy="8896895"/>
            <a:chOff x="0" y="0"/>
            <a:chExt cx="479335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79335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793350">
                  <a:moveTo>
                    <a:pt x="2396675" y="6350000"/>
                  </a:moveTo>
                  <a:cubicBezTo>
                    <a:pt x="107371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1073710" y="0"/>
                    <a:pt x="2396675" y="0"/>
                  </a:cubicBezTo>
                  <a:cubicBezTo>
                    <a:pt x="3719640" y="0"/>
                    <a:pt x="4793350" y="995680"/>
                    <a:pt x="4793350" y="2222500"/>
                  </a:cubicBezTo>
                  <a:lnTo>
                    <a:pt x="4793350" y="4127500"/>
                  </a:lnTo>
                  <a:cubicBezTo>
                    <a:pt x="4793350" y="5354320"/>
                    <a:pt x="3719640" y="6350000"/>
                    <a:pt x="2396675" y="6350000"/>
                  </a:cubicBezTo>
                  <a:close/>
                </a:path>
              </a:pathLst>
            </a:custGeom>
            <a:blipFill>
              <a:blip r:embed="rId5"/>
              <a:stretch>
                <a:fillRect l="-183436" t="0" r="-183436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398331" y="7294195"/>
            <a:ext cx="7074952" cy="884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829" spc="432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Presented by: Francesco Coppola</a:t>
            </a:r>
          </a:p>
          <a:p>
            <a:pPr algn="ctr" marL="0" indent="0" lvl="0">
              <a:lnSpc>
                <a:spcPts val="3479"/>
              </a:lnSpc>
              <a:spcBef>
                <a:spcPct val="0"/>
              </a:spcBef>
            </a:pPr>
            <a:r>
              <a:rPr lang="en-US" sz="2829" spc="432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Mat. 0512119837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65111" y="8244266"/>
            <a:ext cx="3741393" cy="120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23"/>
              </a:lnSpc>
            </a:pPr>
            <a:r>
              <a:rPr lang="en-US" b="true" sz="6873" spc="419">
                <a:solidFill>
                  <a:srgbClr val="E77B05"/>
                </a:solidFill>
                <a:latin typeface="Almarai Bold"/>
                <a:ea typeface="Almarai Bold"/>
                <a:cs typeface="Almarai Bold"/>
                <a:sym typeface="Almarai Bold"/>
              </a:rPr>
              <a:t>GRAZIE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-5988883" y="4475110"/>
            <a:ext cx="8811621" cy="12372608"/>
            <a:chOff x="0" y="0"/>
            <a:chExt cx="11748828" cy="164968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214188" cy="11214188"/>
            </a:xfrm>
            <a:custGeom>
              <a:avLst/>
              <a:gdLst/>
              <a:ahLst/>
              <a:cxnLst/>
              <a:rect r="r" b="b" t="t" l="l"/>
              <a:pathLst>
                <a:path h="11214188" w="11214188">
                  <a:moveTo>
                    <a:pt x="0" y="0"/>
                  </a:moveTo>
                  <a:lnTo>
                    <a:pt x="11214188" y="0"/>
                  </a:lnTo>
                  <a:lnTo>
                    <a:pt x="11214188" y="11214188"/>
                  </a:lnTo>
                  <a:lnTo>
                    <a:pt x="0" y="11214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0">
              <a:off x="7517818" y="2984355"/>
              <a:ext cx="4231010" cy="13512456"/>
              <a:chOff x="0" y="0"/>
              <a:chExt cx="862412" cy="2754259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62412" cy="2754259"/>
              </a:xfrm>
              <a:custGeom>
                <a:avLst/>
                <a:gdLst/>
                <a:ahLst/>
                <a:cxnLst/>
                <a:rect r="r" b="b" t="t" l="l"/>
                <a:pathLst>
                  <a:path h="2754259" w="862412">
                    <a:moveTo>
                      <a:pt x="243974" y="0"/>
                    </a:moveTo>
                    <a:lnTo>
                      <a:pt x="618438" y="0"/>
                    </a:lnTo>
                    <a:cubicBezTo>
                      <a:pt x="683144" y="0"/>
                      <a:pt x="745199" y="25704"/>
                      <a:pt x="790953" y="71458"/>
                    </a:cubicBezTo>
                    <a:cubicBezTo>
                      <a:pt x="836707" y="117212"/>
                      <a:pt x="862412" y="179268"/>
                      <a:pt x="862412" y="243974"/>
                    </a:cubicBezTo>
                    <a:lnTo>
                      <a:pt x="862412" y="2510286"/>
                    </a:lnTo>
                    <a:cubicBezTo>
                      <a:pt x="862412" y="2574991"/>
                      <a:pt x="836707" y="2637047"/>
                      <a:pt x="790953" y="2682801"/>
                    </a:cubicBezTo>
                    <a:cubicBezTo>
                      <a:pt x="745199" y="2728555"/>
                      <a:pt x="683144" y="2754259"/>
                      <a:pt x="618438" y="2754259"/>
                    </a:cubicBezTo>
                    <a:lnTo>
                      <a:pt x="243974" y="2754259"/>
                    </a:lnTo>
                    <a:cubicBezTo>
                      <a:pt x="179268" y="2754259"/>
                      <a:pt x="117212" y="2728555"/>
                      <a:pt x="71458" y="2682801"/>
                    </a:cubicBezTo>
                    <a:cubicBezTo>
                      <a:pt x="25704" y="2637047"/>
                      <a:pt x="0" y="2574991"/>
                      <a:pt x="0" y="2510286"/>
                    </a:cubicBezTo>
                    <a:lnTo>
                      <a:pt x="0" y="243974"/>
                    </a:lnTo>
                    <a:cubicBezTo>
                      <a:pt x="0" y="179268"/>
                      <a:pt x="25704" y="117212"/>
                      <a:pt x="71458" y="71458"/>
                    </a:cubicBezTo>
                    <a:cubicBezTo>
                      <a:pt x="117212" y="25704"/>
                      <a:pt x="179268" y="0"/>
                      <a:pt x="243974" y="0"/>
                    </a:cubicBezTo>
                    <a:close/>
                  </a:path>
                </a:pathLst>
              </a:custGeom>
              <a:solidFill>
                <a:srgbClr val="145DA0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862412" cy="28018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3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8185957" y="3332425"/>
              <a:ext cx="2894731" cy="2894731"/>
            </a:xfrm>
            <a:custGeom>
              <a:avLst/>
              <a:gdLst/>
              <a:ahLst/>
              <a:cxnLst/>
              <a:rect r="r" b="b" t="t" l="l"/>
              <a:pathLst>
                <a:path h="2894731" w="2894731">
                  <a:moveTo>
                    <a:pt x="0" y="0"/>
                  </a:moveTo>
                  <a:lnTo>
                    <a:pt x="2894731" y="0"/>
                  </a:lnTo>
                  <a:lnTo>
                    <a:pt x="2894731" y="2894732"/>
                  </a:lnTo>
                  <a:lnTo>
                    <a:pt x="0" y="28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8944544" y="6102768"/>
              <a:ext cx="1377557" cy="1491709"/>
            </a:xfrm>
            <a:custGeom>
              <a:avLst/>
              <a:gdLst/>
              <a:ahLst/>
              <a:cxnLst/>
              <a:rect r="r" b="b" t="t" l="l"/>
              <a:pathLst>
                <a:path h="1491709" w="1377557">
                  <a:moveTo>
                    <a:pt x="0" y="0"/>
                  </a:moveTo>
                  <a:lnTo>
                    <a:pt x="1377557" y="0"/>
                  </a:lnTo>
                  <a:lnTo>
                    <a:pt x="1377557" y="1491709"/>
                  </a:lnTo>
                  <a:lnTo>
                    <a:pt x="0" y="1491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DAHA1OojLLE</dc:identifier>
  <dcterms:modified xsi:type="dcterms:W3CDTF">2011-08-01T06:04:30Z</dcterms:modified>
  <cp:revision>1</cp:revision>
  <dc:title>DealHunter</dc:title>
</cp:coreProperties>
</file>